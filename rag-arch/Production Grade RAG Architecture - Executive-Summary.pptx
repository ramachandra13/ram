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0"/>
  </p:notesMasterIdLst>
  <p:sldIdLst>
    <p:sldId id="406" r:id="rId3"/>
    <p:sldId id="513" r:id="rId4"/>
    <p:sldId id="532" r:id="rId5"/>
    <p:sldId id="510" r:id="rId6"/>
    <p:sldId id="538" r:id="rId7"/>
    <p:sldId id="522" r:id="rId8"/>
    <p:sldId id="43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51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46BDC5-4673-4601-9BD9-497362126CBF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2DA272-4565-491F-92FF-A099E1B2D9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7930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F0C3B7-16F2-9445-91CE-7DC007D7EC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748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21F1E-0928-D9BE-7466-7D39735CB5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81644C-0307-5972-5FAC-79847CFE01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D17655-A362-AEB1-94BF-60CA1689F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CF480-1311-4607-8425-C11D9294137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D1A58-75FF-0AEA-B0B7-1218F7677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731AC3-DA7A-2EA8-BF55-28D8D12F3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D4B5-1DEF-47CE-B536-C14849169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681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FE154-E7B5-223E-FC22-8BA5A4819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4B13D-3E48-F248-3F11-CF79395C9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9F1097-9A5F-4B98-2EB4-A17FE2F23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CF480-1311-4607-8425-C11D9294137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C60BD2-978B-799F-925E-3A7F85CF4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F5CC6-A6FD-DB15-3668-96BB621BC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D4B5-1DEF-47CE-B536-C14849169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1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5E886-75C1-1C5B-1E2C-E79569DA8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CDC252-B6C0-57D4-3887-05C61822E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A1CBB-A293-5CB5-DA8E-B5D3F060B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CF480-1311-4607-8425-C11D9294137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713B8-E518-3B22-0F93-DF388E27A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E88AB0-0B34-4241-544B-D9ADE1960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D4B5-1DEF-47CE-B536-C14849169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138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DCE02-A1A2-0E70-88BC-B8384A578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E8185-709D-299B-F0A3-323702C301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F03791-A3F6-C1F4-1132-5F9F054B53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79DAD-11F1-59C5-4217-521C7B506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CF480-1311-4607-8425-C11D9294137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D78C5-5702-FB17-E070-A8685451D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D5BF39-1EC4-1AE8-C9AA-09ED747D9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D4B5-1DEF-47CE-B536-C14849169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40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794A6-404C-4741-5E24-7149FB31D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E4217-7AF6-8E83-336A-2AB529E1D5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BDC190-E9F0-8400-8946-908769FDB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41A76B-0BDF-B85E-C0E7-5CC8FE293B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51A966-EF82-8D5D-5C84-2E12AEB6B6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874179-4ECE-4042-5D7E-D299E40B4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CF480-1311-4607-8425-C11D9294137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9F6002-C84B-757B-94B3-67F2F2BDC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A70E7E-A232-6352-F3AE-C8FD8CB35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D4B5-1DEF-47CE-B536-C14849169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715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A15A74-0D41-B0D6-6B9A-C42841D2B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003A38-3828-92D6-14CA-98C5F97A5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CF480-1311-4607-8425-C11D9294137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600029-F8B2-D73B-7960-E3A974DCB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517B1E-9DA0-3030-DEFD-F2667B6CB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D4B5-1DEF-47CE-B536-C14849169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180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1A5577-8895-D33D-6281-0D79D4518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CF480-1311-4607-8425-C11D9294137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4C816A-8EAE-FBBB-1660-9563F3591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FBA6A5-FA82-B350-F6A9-ADEA1ADD9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D4B5-1DEF-47CE-B536-C14849169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975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918F3-FE39-B8D8-1D53-A11B57741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74267D-6781-D779-0CE9-3B97FB1944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74F27C-D318-0347-976A-D7884DB215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091042-C6B0-ECE4-6794-9E6C285BD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CF480-1311-4607-8425-C11D9294137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F1A31F-C89E-2755-045E-A208CECA2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F05BD-1F83-0CAD-3A80-22F1D50E8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D4B5-1DEF-47CE-B536-C14849169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708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4F57F-EE55-A55E-276E-B6B237880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610FC1-FA2C-A30E-12C5-08465981FE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AD9203-60E1-F581-82EB-E84679FE81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DFE708-7648-7023-C1A6-FC870C92A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CF480-1311-4607-8425-C11D9294137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125A92-5CB6-BA0B-F834-CE1D35C08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79559-CEFE-B9C4-0047-5A38495C9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D4B5-1DEF-47CE-B536-C14849169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707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6AE66-3FDC-3465-2EBE-FD37341A7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43C218-A970-06EE-4890-6A9FB698F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94D-5E2B-B27A-DBDC-408AF37C9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CF480-1311-4607-8425-C11D9294137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8DCA9-9402-A383-8B24-E67D664E1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8109B-D71F-8023-68AE-4F6207EA2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D4B5-1DEF-47CE-B536-C14849169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906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DB7D62-F6EF-9720-3F6E-3F2FFAA2E2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24ABC1-DB53-98C2-D213-640EB640E7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9A298-C865-F880-CAC6-83118C6F2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CF480-1311-4607-8425-C11D9294137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B1A6D3-611E-DCC0-B354-9CDAD58AA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4CB54-6980-9148-1326-FF181474F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FD4B5-1DEF-47CE-B536-C14849169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4156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40074" y="5815927"/>
            <a:ext cx="9029700" cy="534077"/>
          </a:xfrm>
        </p:spPr>
        <p:txBody>
          <a:bodyPr>
            <a:noAutofit/>
          </a:bodyPr>
          <a:lstStyle>
            <a:lvl1pPr marL="0" indent="0">
              <a:buNone/>
              <a:defRPr sz="2667" baseline="0">
                <a:solidFill>
                  <a:schemeClr val="accent1"/>
                </a:solidFill>
                <a:latin typeface="Arial"/>
                <a:cs typeface="Arial"/>
              </a:defRPr>
            </a:lvl1pPr>
            <a:lvl2pPr marL="0" indent="0">
              <a:buFont typeface="Arial"/>
              <a:buNone/>
              <a:defRPr sz="1867" b="1">
                <a:solidFill>
                  <a:schemeClr val="accent1"/>
                </a:solidFill>
                <a:latin typeface="Arial"/>
                <a:cs typeface="Arial"/>
              </a:defRPr>
            </a:lvl2pPr>
            <a:lvl3pPr marL="1219170" indent="0">
              <a:buNone/>
              <a:defRPr>
                <a:solidFill>
                  <a:schemeClr val="accent1"/>
                </a:solidFill>
                <a:latin typeface="Arial"/>
                <a:cs typeface="Arial"/>
              </a:defRPr>
            </a:lvl3pPr>
            <a:lvl4pPr marL="1828754" indent="0">
              <a:buNone/>
              <a:defRPr>
                <a:solidFill>
                  <a:schemeClr val="accent1"/>
                </a:solidFill>
                <a:latin typeface="Arial"/>
                <a:cs typeface="Arial"/>
              </a:defRPr>
            </a:lvl4pPr>
            <a:lvl5pPr marL="2438339" indent="0">
              <a:buNone/>
              <a:defRPr>
                <a:solidFill>
                  <a:schemeClr val="accent1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8833580" y="6395951"/>
            <a:ext cx="3138781" cy="331437"/>
          </a:xfrm>
        </p:spPr>
        <p:txBody>
          <a:bodyPr>
            <a:noAutofit/>
          </a:bodyPr>
          <a:lstStyle>
            <a:lvl1pPr marL="0" indent="0" algn="r">
              <a:buNone/>
              <a:defRPr sz="1333">
                <a:solidFill>
                  <a:srgbClr val="00548B"/>
                </a:solidFill>
                <a:latin typeface="Arial"/>
                <a:cs typeface="Arial"/>
              </a:defRPr>
            </a:lvl1pPr>
            <a:lvl2pPr marL="609585" indent="0">
              <a:buNone/>
              <a:defRPr sz="1600">
                <a:solidFill>
                  <a:srgbClr val="00548B"/>
                </a:solidFill>
              </a:defRPr>
            </a:lvl2pPr>
            <a:lvl3pPr marL="1219170" indent="0">
              <a:buNone/>
              <a:defRPr sz="1600">
                <a:solidFill>
                  <a:srgbClr val="00548B"/>
                </a:solidFill>
              </a:defRPr>
            </a:lvl3pPr>
            <a:lvl4pPr marL="1828754" indent="0">
              <a:buNone/>
              <a:defRPr sz="1600">
                <a:solidFill>
                  <a:srgbClr val="00548B"/>
                </a:solidFill>
              </a:defRPr>
            </a:lvl4pPr>
            <a:lvl5pPr marL="2438339" indent="0">
              <a:buNone/>
              <a:defRPr sz="1600">
                <a:solidFill>
                  <a:srgbClr val="00548B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8" b="6832"/>
          <a:stretch/>
        </p:blipFill>
        <p:spPr>
          <a:xfrm>
            <a:off x="0" y="-38100"/>
            <a:ext cx="12192000" cy="5715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4328974"/>
            <a:ext cx="6053667" cy="1340453"/>
          </a:xfrm>
          <a:prstGeom prst="rect">
            <a:avLst/>
          </a:prstGeom>
          <a:solidFill>
            <a:srgbClr val="153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783" y="4886999"/>
            <a:ext cx="5405157" cy="50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38973" y="6294971"/>
            <a:ext cx="8961967" cy="956733"/>
          </a:xfrm>
        </p:spPr>
        <p:txBody>
          <a:bodyPr/>
          <a:lstStyle>
            <a:lvl1pPr marL="0" indent="0">
              <a:buFontTx/>
              <a:buNone/>
              <a:defRPr sz="2133">
                <a:solidFill>
                  <a:schemeClr val="accent1"/>
                </a:solidFill>
              </a:defRPr>
            </a:lvl1pPr>
            <a:lvl2pPr marL="309026" indent="0">
              <a:buFontTx/>
              <a:buNone/>
              <a:defRPr sz="1867">
                <a:solidFill>
                  <a:schemeClr val="accent1"/>
                </a:solidFill>
              </a:defRPr>
            </a:lvl2pPr>
            <a:lvl3pPr marL="685783" indent="0">
              <a:buFontTx/>
              <a:buNone/>
              <a:defRPr sz="1867">
                <a:solidFill>
                  <a:schemeClr val="accent1"/>
                </a:solidFill>
              </a:defRPr>
            </a:lvl3pPr>
            <a:lvl4pPr marL="918610" indent="0">
              <a:buFontTx/>
              <a:buNone/>
              <a:defRPr sz="1867">
                <a:solidFill>
                  <a:schemeClr val="accent1"/>
                </a:solidFill>
              </a:defRPr>
            </a:lvl4pPr>
            <a:lvl5pPr marL="1295368" indent="0">
              <a:buFontTx/>
              <a:buNone/>
              <a:defRPr sz="1867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Presenter Name – 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2142374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340075" y="5815929"/>
            <a:ext cx="9029700" cy="534077"/>
          </a:xfrm>
        </p:spPr>
        <p:txBody>
          <a:bodyPr>
            <a:noAutofit/>
          </a:bodyPr>
          <a:lstStyle>
            <a:lvl1pPr marL="0" indent="0">
              <a:buNone/>
              <a:defRPr sz="2667" baseline="0">
                <a:solidFill>
                  <a:schemeClr val="accent1"/>
                </a:solidFill>
                <a:latin typeface="Arial"/>
                <a:cs typeface="Arial"/>
              </a:defRPr>
            </a:lvl1pPr>
            <a:lvl2pPr marL="0" indent="0">
              <a:buFont typeface="Arial"/>
              <a:buNone/>
              <a:defRPr sz="1867" b="1">
                <a:solidFill>
                  <a:schemeClr val="accent1"/>
                </a:solidFill>
                <a:latin typeface="Arial"/>
                <a:cs typeface="Arial"/>
              </a:defRPr>
            </a:lvl2pPr>
            <a:lvl3pPr marL="1219140" indent="0">
              <a:buNone/>
              <a:defRPr>
                <a:solidFill>
                  <a:schemeClr val="accent1"/>
                </a:solidFill>
                <a:latin typeface="Arial"/>
                <a:cs typeface="Arial"/>
              </a:defRPr>
            </a:lvl3pPr>
            <a:lvl4pPr marL="1828709" indent="0">
              <a:buNone/>
              <a:defRPr>
                <a:solidFill>
                  <a:schemeClr val="accent1"/>
                </a:solidFill>
                <a:latin typeface="Arial"/>
                <a:cs typeface="Arial"/>
              </a:defRPr>
            </a:lvl4pPr>
            <a:lvl5pPr marL="2438278" indent="0">
              <a:buNone/>
              <a:defRPr>
                <a:solidFill>
                  <a:schemeClr val="accent1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8833580" y="6395953"/>
            <a:ext cx="3138781" cy="331437"/>
          </a:xfrm>
        </p:spPr>
        <p:txBody>
          <a:bodyPr>
            <a:noAutofit/>
          </a:bodyPr>
          <a:lstStyle>
            <a:lvl1pPr marL="0" indent="0" algn="r">
              <a:buNone/>
              <a:defRPr sz="1333">
                <a:solidFill>
                  <a:srgbClr val="00548B"/>
                </a:solidFill>
                <a:latin typeface="Arial"/>
                <a:cs typeface="Arial"/>
              </a:defRPr>
            </a:lvl1pPr>
            <a:lvl2pPr marL="609570" indent="0">
              <a:buNone/>
              <a:defRPr sz="1600">
                <a:solidFill>
                  <a:srgbClr val="00548B"/>
                </a:solidFill>
              </a:defRPr>
            </a:lvl2pPr>
            <a:lvl3pPr marL="1219140" indent="0">
              <a:buNone/>
              <a:defRPr sz="1600">
                <a:solidFill>
                  <a:srgbClr val="00548B"/>
                </a:solidFill>
              </a:defRPr>
            </a:lvl3pPr>
            <a:lvl4pPr marL="1828709" indent="0">
              <a:buNone/>
              <a:defRPr sz="1600">
                <a:solidFill>
                  <a:srgbClr val="00548B"/>
                </a:solidFill>
              </a:defRPr>
            </a:lvl4pPr>
            <a:lvl5pPr marL="2438278" indent="0">
              <a:buNone/>
              <a:defRPr sz="1600">
                <a:solidFill>
                  <a:srgbClr val="00548B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68" b="6832"/>
          <a:stretch/>
        </p:blipFill>
        <p:spPr>
          <a:xfrm>
            <a:off x="0" y="-38100"/>
            <a:ext cx="12192000" cy="57150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" y="4328976"/>
            <a:ext cx="6053667" cy="1340453"/>
          </a:xfrm>
          <a:prstGeom prst="rect">
            <a:avLst/>
          </a:prstGeom>
          <a:solidFill>
            <a:srgbClr val="153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784" y="4886999"/>
            <a:ext cx="5405157" cy="50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38974" y="6294973"/>
            <a:ext cx="8961967" cy="956733"/>
          </a:xfrm>
        </p:spPr>
        <p:txBody>
          <a:bodyPr/>
          <a:lstStyle>
            <a:lvl1pPr marL="0" indent="0">
              <a:buFontTx/>
              <a:buNone/>
              <a:defRPr sz="2133">
                <a:solidFill>
                  <a:schemeClr val="accent1"/>
                </a:solidFill>
              </a:defRPr>
            </a:lvl1pPr>
            <a:lvl2pPr marL="309019" indent="0">
              <a:buFontTx/>
              <a:buNone/>
              <a:defRPr sz="1867">
                <a:solidFill>
                  <a:schemeClr val="accent1"/>
                </a:solidFill>
              </a:defRPr>
            </a:lvl2pPr>
            <a:lvl3pPr marL="685766" indent="0">
              <a:buFontTx/>
              <a:buNone/>
              <a:defRPr sz="1867">
                <a:solidFill>
                  <a:schemeClr val="accent1"/>
                </a:solidFill>
              </a:defRPr>
            </a:lvl3pPr>
            <a:lvl4pPr marL="918588" indent="0">
              <a:buFontTx/>
              <a:buNone/>
              <a:defRPr sz="1867">
                <a:solidFill>
                  <a:schemeClr val="accent1"/>
                </a:solidFill>
              </a:defRPr>
            </a:lvl4pPr>
            <a:lvl5pPr marL="1295336" indent="0">
              <a:buFontTx/>
              <a:buNone/>
              <a:defRPr sz="1867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Presenter Name – Presenter Title</a:t>
            </a:r>
          </a:p>
        </p:txBody>
      </p:sp>
    </p:spTree>
    <p:extLst>
      <p:ext uri="{BB962C8B-B14F-4D97-AF65-F5344CB8AC3E}">
        <p14:creationId xmlns:p14="http://schemas.microsoft.com/office/powerpoint/2010/main" val="2021460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595A5A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595A5A"/>
                </a:solidFill>
              </a:defRPr>
            </a:lvl1pPr>
            <a:lvl2pPr>
              <a:defRPr>
                <a:solidFill>
                  <a:srgbClr val="595A5A"/>
                </a:solidFill>
              </a:defRPr>
            </a:lvl2pPr>
            <a:lvl3pPr>
              <a:defRPr>
                <a:solidFill>
                  <a:srgbClr val="595A5A"/>
                </a:solidFill>
              </a:defRPr>
            </a:lvl3pPr>
            <a:lvl4pPr>
              <a:defRPr>
                <a:solidFill>
                  <a:srgbClr val="595A5A"/>
                </a:solidFill>
              </a:defRPr>
            </a:lvl4pPr>
            <a:lvl5pPr>
              <a:defRPr>
                <a:solidFill>
                  <a:srgbClr val="595A5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6184" y="6543210"/>
            <a:ext cx="37253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4C27EB8B-D1FE-ED46-AC87-6B0F7FF792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5067" y="6488010"/>
            <a:ext cx="3860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>
                <a:solidFill>
                  <a:srgbClr val="595A5A">
                    <a:tint val="75000"/>
                  </a:srgbClr>
                </a:solidFill>
              </a:rPr>
              <a:t>CUBIC PROPRIETARY   |   Overview</a:t>
            </a:r>
            <a:endParaRPr lang="en-US" i="1">
              <a:solidFill>
                <a:srgbClr val="595A5A">
                  <a:tint val="75000"/>
                </a:srgbClr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3468" y="6586145"/>
            <a:ext cx="2600283" cy="23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018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2269" y="166021"/>
            <a:ext cx="5822935" cy="886375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6184" y="6543210"/>
            <a:ext cx="37253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4C27EB8B-D1FE-ED46-AC87-6B0F7FF792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239" y="6541885"/>
            <a:ext cx="3078712" cy="281923"/>
          </a:xfrm>
          <a:prstGeom prst="rect">
            <a:avLst/>
          </a:prstGeom>
        </p:spPr>
      </p:pic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5067" y="6488010"/>
            <a:ext cx="3860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>
                <a:solidFill>
                  <a:srgbClr val="595A5A">
                    <a:tint val="75000"/>
                  </a:srgbClr>
                </a:solidFill>
              </a:rPr>
              <a:t>CUBIC PROPRIETARY   |   Overview</a:t>
            </a:r>
            <a:endParaRPr lang="en-US" i="1">
              <a:solidFill>
                <a:srgbClr val="595A5A">
                  <a:tint val="75000"/>
                </a:srgbClr>
              </a:solidFill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222269" y="1528572"/>
            <a:ext cx="5822935" cy="4730408"/>
          </a:xfrm>
        </p:spPr>
        <p:txBody>
          <a:bodyPr/>
          <a:lstStyle>
            <a:lvl1pPr>
              <a:spcAft>
                <a:spcPts val="2400"/>
              </a:spcAft>
              <a:defRPr sz="2400">
                <a:solidFill>
                  <a:srgbClr val="595A5A"/>
                </a:solidFill>
              </a:defRPr>
            </a:lvl1pPr>
            <a:lvl2pPr>
              <a:defRPr>
                <a:solidFill>
                  <a:srgbClr val="595A5A"/>
                </a:solidFill>
              </a:defRPr>
            </a:lvl2pPr>
            <a:lvl3pPr>
              <a:defRPr>
                <a:solidFill>
                  <a:srgbClr val="595A5A"/>
                </a:solidFill>
              </a:defRPr>
            </a:lvl3pPr>
            <a:lvl4pPr>
              <a:defRPr>
                <a:solidFill>
                  <a:srgbClr val="595A5A"/>
                </a:solidFill>
              </a:defRPr>
            </a:lvl4pPr>
            <a:lvl5pPr>
              <a:spcAft>
                <a:spcPts val="2400"/>
              </a:spcAft>
              <a:defRPr>
                <a:solidFill>
                  <a:srgbClr val="595A5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3468" y="6586145"/>
            <a:ext cx="2600283" cy="237660"/>
          </a:xfrm>
          <a:prstGeom prst="rect">
            <a:avLst/>
          </a:prstGeom>
        </p:spPr>
      </p:pic>
      <p:sp>
        <p:nvSpPr>
          <p:cNvPr id="9" name="Content Placeholder 24"/>
          <p:cNvSpPr txBox="1">
            <a:spLocks/>
          </p:cNvSpPr>
          <p:nvPr userDrawn="1"/>
        </p:nvSpPr>
        <p:spPr bwMode="auto">
          <a:xfrm>
            <a:off x="6068829" y="4"/>
            <a:ext cx="6123171" cy="6857999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</p:spPr>
        <p:txBody>
          <a:bodyPr vert="horz" wrap="square" lIns="609600" tIns="182880" rIns="243840" bIns="182880" numCol="1" anchor="ctr" anchorCtr="0" compatLnSpc="1">
            <a:prstTxWarp prst="textNoShape">
              <a:avLst/>
            </a:prstTxWarp>
            <a:noAutofit/>
          </a:bodyPr>
          <a:lstStyle>
            <a:lvl1pPr marL="342900" indent="-3429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itchFamily="34" charset="0"/>
              <a:buChar char="•"/>
              <a:defRPr sz="2400" kern="1200">
                <a:solidFill>
                  <a:srgbClr val="404040"/>
                </a:solidFill>
                <a:latin typeface="+mn-lt"/>
                <a:ea typeface="ＭＳ Ｐゴシック" charset="0"/>
                <a:cs typeface="ＭＳ Ｐゴシック"/>
              </a:defRPr>
            </a:lvl1pPr>
            <a:lvl2pPr marL="742950" indent="-28575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itchFamily="34" charset="0"/>
              <a:buChar char="–"/>
              <a:defRPr sz="2400" kern="1200">
                <a:solidFill>
                  <a:srgbClr val="404040"/>
                </a:solidFill>
                <a:latin typeface="+mn-lt"/>
                <a:ea typeface="ＭＳ Ｐゴシック" charset="0"/>
                <a:cs typeface="ＭＳ Ｐゴシック"/>
              </a:defRPr>
            </a:lvl2pPr>
            <a:lvl3pPr marL="11430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itchFamily="34" charset="0"/>
              <a:buChar char="•"/>
              <a:defRPr sz="2400" kern="1200">
                <a:solidFill>
                  <a:srgbClr val="404040"/>
                </a:solidFill>
                <a:latin typeface="+mn-lt"/>
                <a:ea typeface="ＭＳ Ｐゴシック" charset="0"/>
                <a:cs typeface="ＭＳ Ｐゴシック"/>
              </a:defRPr>
            </a:lvl3pPr>
            <a:lvl4pPr marL="16002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itchFamily="34" charset="0"/>
              <a:buChar char="–"/>
              <a:defRPr sz="2400" kern="1200">
                <a:solidFill>
                  <a:srgbClr val="404040"/>
                </a:solidFill>
                <a:latin typeface="+mn-lt"/>
                <a:ea typeface="ＭＳ Ｐゴシック" charset="0"/>
                <a:cs typeface="ＭＳ Ｐゴシック"/>
              </a:defRPr>
            </a:lvl4pPr>
            <a:lvl5pPr marL="2057400" indent="-228600" algn="l" defTabSz="457200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Font typeface="Arial" pitchFamily="34" charset="0"/>
              <a:buChar char="»"/>
              <a:defRPr sz="2400" kern="1200">
                <a:solidFill>
                  <a:srgbClr val="404040"/>
                </a:solidFill>
                <a:latin typeface="+mn-lt"/>
                <a:ea typeface="ＭＳ Ｐゴシック" charset="0"/>
                <a:cs typeface="ＭＳ Ｐゴシック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spcAft>
                <a:spcPts val="1333"/>
              </a:spcAft>
              <a:buClr>
                <a:schemeClr val="bg1"/>
              </a:buClr>
              <a:buNone/>
              <a:tabLst>
                <a:tab pos="309019" algn="l"/>
              </a:tabLst>
            </a:pPr>
            <a:endParaRPr lang="en-US" sz="160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5937" y="6586145"/>
            <a:ext cx="2595345" cy="23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6913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509925" y="0"/>
            <a:ext cx="5682075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1" y="0"/>
            <a:ext cx="6566371" cy="68580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2269" y="166021"/>
            <a:ext cx="5822935" cy="88637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6184" y="6543210"/>
            <a:ext cx="37253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4C27EB8B-D1FE-ED46-AC87-6B0F7FF792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239" y="6541885"/>
            <a:ext cx="3078712" cy="281923"/>
          </a:xfrm>
          <a:prstGeom prst="rect">
            <a:avLst/>
          </a:prstGeom>
        </p:spPr>
      </p:pic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5067" y="6488010"/>
            <a:ext cx="3860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>
                <a:solidFill>
                  <a:srgbClr val="595A5A">
                    <a:tint val="75000"/>
                  </a:srgbClr>
                </a:solidFill>
              </a:rPr>
              <a:t>CUBIC PROPRIETARY   |   Overview</a:t>
            </a:r>
            <a:endParaRPr lang="en-US" i="1">
              <a:solidFill>
                <a:srgbClr val="595A5A">
                  <a:tint val="75000"/>
                </a:srgbClr>
              </a:solidFill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222269" y="1528572"/>
            <a:ext cx="5822935" cy="4730408"/>
          </a:xfrm>
        </p:spPr>
        <p:txBody>
          <a:bodyPr/>
          <a:lstStyle>
            <a:lvl1pPr>
              <a:spcAft>
                <a:spcPts val="2400"/>
              </a:spcAft>
              <a:defRPr sz="2133">
                <a:solidFill>
                  <a:schemeClr val="bg1"/>
                </a:solidFill>
              </a:defRPr>
            </a:lvl1pPr>
            <a:lvl2pPr>
              <a:defRPr>
                <a:solidFill>
                  <a:srgbClr val="595A5A"/>
                </a:solidFill>
              </a:defRPr>
            </a:lvl2pPr>
            <a:lvl3pPr>
              <a:defRPr>
                <a:solidFill>
                  <a:srgbClr val="595A5A"/>
                </a:solidFill>
              </a:defRPr>
            </a:lvl3pPr>
            <a:lvl4pPr>
              <a:defRPr>
                <a:solidFill>
                  <a:srgbClr val="595A5A"/>
                </a:solidFill>
              </a:defRPr>
            </a:lvl4pPr>
            <a:lvl5pPr>
              <a:spcAft>
                <a:spcPts val="2400"/>
              </a:spcAft>
              <a:defRPr>
                <a:solidFill>
                  <a:srgbClr val="595A5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0394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6509925" y="0"/>
            <a:ext cx="5682075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1" y="0"/>
            <a:ext cx="6566371" cy="6858000"/>
          </a:xfrm>
          <a:prstGeom prst="rect">
            <a:avLst/>
          </a:prstGeom>
          <a:solidFill>
            <a:srgbClr val="505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22269" y="166021"/>
            <a:ext cx="5822935" cy="88637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6184" y="6543210"/>
            <a:ext cx="37253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4C27EB8B-D1FE-ED46-AC87-6B0F7FF792E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239" y="6541885"/>
            <a:ext cx="3078712" cy="281923"/>
          </a:xfrm>
          <a:prstGeom prst="rect">
            <a:avLst/>
          </a:prstGeom>
        </p:spPr>
      </p:pic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5067" y="6488010"/>
            <a:ext cx="3860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>
                <a:solidFill>
                  <a:srgbClr val="595A5A">
                    <a:tint val="75000"/>
                  </a:srgbClr>
                </a:solidFill>
              </a:rPr>
              <a:t>CUBIC PROPRIETARY   |   Overview</a:t>
            </a:r>
            <a:endParaRPr lang="en-US" i="1">
              <a:solidFill>
                <a:srgbClr val="595A5A">
                  <a:tint val="75000"/>
                </a:srgbClr>
              </a:solidFill>
            </a:endParaRP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222269" y="1528572"/>
            <a:ext cx="5822935" cy="4730408"/>
          </a:xfrm>
        </p:spPr>
        <p:txBody>
          <a:bodyPr/>
          <a:lstStyle>
            <a:lvl1pPr>
              <a:spcAft>
                <a:spcPts val="2400"/>
              </a:spcAft>
              <a:defRPr sz="2133">
                <a:solidFill>
                  <a:schemeClr val="bg1"/>
                </a:solidFill>
              </a:defRPr>
            </a:lvl1pPr>
            <a:lvl2pPr>
              <a:defRPr>
                <a:solidFill>
                  <a:srgbClr val="595A5A"/>
                </a:solidFill>
              </a:defRPr>
            </a:lvl2pPr>
            <a:lvl3pPr>
              <a:defRPr>
                <a:solidFill>
                  <a:srgbClr val="595A5A"/>
                </a:solidFill>
              </a:defRPr>
            </a:lvl3pPr>
            <a:lvl4pPr>
              <a:defRPr>
                <a:solidFill>
                  <a:srgbClr val="595A5A"/>
                </a:solidFill>
              </a:defRPr>
            </a:lvl4pPr>
            <a:lvl5pPr>
              <a:spcAft>
                <a:spcPts val="2400"/>
              </a:spcAft>
              <a:defRPr>
                <a:solidFill>
                  <a:srgbClr val="595A5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07424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" y="0"/>
            <a:ext cx="5682075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5625629" y="0"/>
            <a:ext cx="6566371" cy="6858000"/>
          </a:xfrm>
          <a:prstGeom prst="rect">
            <a:avLst/>
          </a:prstGeom>
          <a:solidFill>
            <a:srgbClr val="5051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960786" y="166021"/>
            <a:ext cx="5822935" cy="886375"/>
          </a:xfrm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5960786" y="1528572"/>
            <a:ext cx="5822935" cy="4730408"/>
          </a:xfrm>
        </p:spPr>
        <p:txBody>
          <a:bodyPr/>
          <a:lstStyle>
            <a:lvl1pPr>
              <a:spcAft>
                <a:spcPts val="2400"/>
              </a:spcAft>
              <a:defRPr sz="2133">
                <a:solidFill>
                  <a:schemeClr val="bg1"/>
                </a:solidFill>
              </a:defRPr>
            </a:lvl1pPr>
            <a:lvl2pPr>
              <a:defRPr>
                <a:solidFill>
                  <a:srgbClr val="595A5A"/>
                </a:solidFill>
              </a:defRPr>
            </a:lvl2pPr>
            <a:lvl3pPr>
              <a:defRPr>
                <a:solidFill>
                  <a:srgbClr val="595A5A"/>
                </a:solidFill>
              </a:defRPr>
            </a:lvl3pPr>
            <a:lvl4pPr>
              <a:defRPr>
                <a:solidFill>
                  <a:srgbClr val="595A5A"/>
                </a:solidFill>
              </a:defRPr>
            </a:lvl4pPr>
            <a:lvl5pPr>
              <a:spcAft>
                <a:spcPts val="2400"/>
              </a:spcAft>
              <a:defRPr>
                <a:solidFill>
                  <a:srgbClr val="595A5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6184" y="6543210"/>
            <a:ext cx="37253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4C27EB8B-D1FE-ED46-AC87-6B0F7FF792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5067" y="6488010"/>
            <a:ext cx="3860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>
                <a:solidFill>
                  <a:srgbClr val="595A5A">
                    <a:tint val="75000"/>
                  </a:srgbClr>
                </a:solidFill>
              </a:rPr>
              <a:t>CUBIC PROPRIETARY   |   Overview</a:t>
            </a:r>
            <a:endParaRPr lang="en-US" i="1">
              <a:solidFill>
                <a:srgbClr val="595A5A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7457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6184" y="6543210"/>
            <a:ext cx="37253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4C27EB8B-D1FE-ED46-AC87-6B0F7FF792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5067" y="6488010"/>
            <a:ext cx="3860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>
                <a:solidFill>
                  <a:srgbClr val="595A5A">
                    <a:tint val="75000"/>
                  </a:srgbClr>
                </a:solidFill>
              </a:rPr>
              <a:t>CUBIC PROPRIETARY   |   Overview</a:t>
            </a:r>
            <a:endParaRPr lang="en-US" i="1">
              <a:solidFill>
                <a:srgbClr val="595A5A">
                  <a:tint val="75000"/>
                </a:srgb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3468" y="6586145"/>
            <a:ext cx="2600283" cy="23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3178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6184" y="6543210"/>
            <a:ext cx="37253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4C27EB8B-D1FE-ED46-AC87-6B0F7FF792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5067" y="6488010"/>
            <a:ext cx="3860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>
                <a:solidFill>
                  <a:srgbClr val="595A5A">
                    <a:tint val="75000"/>
                  </a:srgbClr>
                </a:solidFill>
              </a:rPr>
              <a:t>CUBIC PROPRIETARY   |   Overview</a:t>
            </a:r>
            <a:endParaRPr lang="en-US" i="1">
              <a:solidFill>
                <a:srgbClr val="595A5A">
                  <a:tint val="75000"/>
                </a:srgb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3468" y="6586145"/>
            <a:ext cx="2600283" cy="237660"/>
          </a:xfrm>
          <a:prstGeom prst="rect">
            <a:avLst/>
          </a:prstGeom>
        </p:spPr>
      </p:pic>
      <p:sp>
        <p:nvSpPr>
          <p:cNvPr id="4" name="Table Placeholder 3"/>
          <p:cNvSpPr>
            <a:spLocks noGrp="1"/>
          </p:cNvSpPr>
          <p:nvPr>
            <p:ph type="tbl" sz="quarter" idx="10"/>
          </p:nvPr>
        </p:nvSpPr>
        <p:spPr>
          <a:xfrm>
            <a:off x="379308" y="1123953"/>
            <a:ext cx="11418993" cy="5255683"/>
          </a:xfrm>
        </p:spPr>
        <p:txBody>
          <a:bodyPr/>
          <a:lstStyle/>
          <a:p>
            <a:r>
              <a:rPr lang="en-US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1218650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6184" y="6543210"/>
            <a:ext cx="37253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4C27EB8B-D1FE-ED46-AC87-6B0F7FF792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5067" y="6488010"/>
            <a:ext cx="3860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>
                <a:solidFill>
                  <a:srgbClr val="595A5A">
                    <a:tint val="75000"/>
                  </a:srgbClr>
                </a:solidFill>
              </a:rPr>
              <a:t>CUBIC PROPRIETARY   |   Overview</a:t>
            </a:r>
            <a:endParaRPr lang="en-US" i="1">
              <a:solidFill>
                <a:srgbClr val="595A5A">
                  <a:tint val="75000"/>
                </a:srgbClr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6" y="6511053"/>
            <a:ext cx="2039001" cy="27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464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6184" y="6543210"/>
            <a:ext cx="37253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4C27EB8B-D1FE-ED46-AC87-6B0F7FF792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5067" y="6488010"/>
            <a:ext cx="3860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>
                <a:solidFill>
                  <a:srgbClr val="595A5A">
                    <a:tint val="75000"/>
                  </a:srgbClr>
                </a:solidFill>
              </a:rPr>
              <a:t>CUBIC PROPRIETARY   |   Overview</a:t>
            </a:r>
            <a:endParaRPr lang="en-US" i="1">
              <a:solidFill>
                <a:srgbClr val="595A5A">
                  <a:tint val="75000"/>
                </a:srgbClr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3468" y="6586145"/>
            <a:ext cx="2600283" cy="237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142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losing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 userDrawn="1"/>
        </p:nvGrpSpPr>
        <p:grpSpPr>
          <a:xfrm>
            <a:off x="33878" y="1941513"/>
            <a:ext cx="11326281" cy="4293955"/>
            <a:chOff x="-265111" y="32051"/>
            <a:chExt cx="8494711" cy="4293954"/>
          </a:xfrm>
        </p:grpSpPr>
        <p:sp>
          <p:nvSpPr>
            <p:cNvPr id="19" name="Rectangle 18"/>
            <p:cNvSpPr/>
            <p:nvPr/>
          </p:nvSpPr>
          <p:spPr>
            <a:xfrm>
              <a:off x="0" y="1676405"/>
              <a:ext cx="8229600" cy="2649600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-265111" y="32051"/>
              <a:ext cx="4241798" cy="264960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61290" tIns="35560" rIns="199136" bIns="35560" numCol="1" spcCol="1270" anchor="t" anchorCtr="0">
              <a:noAutofit/>
            </a:bodyPr>
            <a:lstStyle/>
            <a:p>
              <a:pPr marL="380981" lvl="1" indent="-380981" algn="l" defTabSz="1659384" rtl="0">
                <a:lnSpc>
                  <a:spcPct val="110000"/>
                </a:lnSpc>
                <a:spcBef>
                  <a:spcPct val="0"/>
                </a:spcBef>
                <a:spcAft>
                  <a:spcPts val="2400"/>
                </a:spcAft>
                <a:buChar char="••"/>
              </a:pPr>
              <a:r>
                <a:rPr lang="en-US" sz="2400" kern="12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An integrated system that is scalable to include other agencies and modes</a:t>
              </a:r>
            </a:p>
            <a:p>
              <a:pPr marL="380981" lvl="1" indent="-380981" algn="l" defTabSz="1659384" rtl="0">
                <a:lnSpc>
                  <a:spcPct val="110000"/>
                </a:lnSpc>
                <a:spcBef>
                  <a:spcPct val="0"/>
                </a:spcBef>
                <a:spcAft>
                  <a:spcPts val="2400"/>
                </a:spcAft>
                <a:buChar char="••"/>
              </a:pPr>
              <a:r>
                <a:rPr lang="en-US" sz="2400" kern="12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Offers a new range of convenience for MTA customers </a:t>
              </a:r>
              <a:endParaRPr lang="en-US" sz="2400" b="1" kern="120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80981" lvl="1" indent="-380981" algn="l" defTabSz="1659384" rtl="0">
                <a:lnSpc>
                  <a:spcPct val="110000"/>
                </a:lnSpc>
                <a:spcBef>
                  <a:spcPct val="0"/>
                </a:spcBef>
                <a:spcAft>
                  <a:spcPts val="2400"/>
                </a:spcAft>
                <a:buChar char="••"/>
              </a:pPr>
              <a:r>
                <a:rPr lang="en-US" sz="2400" kern="12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Contactless bankcards and mobile ticketing</a:t>
              </a:r>
            </a:p>
            <a:p>
              <a:pPr marL="380981" lvl="1" indent="-380981" algn="l" defTabSz="1659384" rtl="0">
                <a:lnSpc>
                  <a:spcPct val="110000"/>
                </a:lnSpc>
                <a:spcBef>
                  <a:spcPct val="0"/>
                </a:spcBef>
                <a:spcAft>
                  <a:spcPts val="2400"/>
                </a:spcAft>
                <a:buChar char="••"/>
              </a:pPr>
              <a:r>
                <a:rPr lang="en-US" sz="2400" kern="1200">
                  <a:solidFill>
                    <a:srgbClr val="FFFFF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Available for all modes of transportation</a:t>
              </a:r>
            </a:p>
          </p:txBody>
        </p:sp>
      </p:grpSp>
      <p:pic>
        <p:nvPicPr>
          <p:cNvPr id="21" name="Picture 2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411" r="8530" b="11411"/>
          <a:stretch/>
        </p:blipFill>
        <p:spPr>
          <a:xfrm>
            <a:off x="-4" y="2"/>
            <a:ext cx="12192005" cy="6858003"/>
          </a:xfrm>
          <a:prstGeom prst="rect">
            <a:avLst/>
          </a:prstGeom>
        </p:spPr>
      </p:pic>
      <p:sp>
        <p:nvSpPr>
          <p:cNvPr id="30" name="Rectangle 29"/>
          <p:cNvSpPr/>
          <p:nvPr userDrawn="1"/>
        </p:nvSpPr>
        <p:spPr>
          <a:xfrm>
            <a:off x="6584" y="3540150"/>
            <a:ext cx="12192000" cy="3317853"/>
          </a:xfrm>
          <a:prstGeom prst="rect">
            <a:avLst/>
          </a:prstGeom>
          <a:solidFill>
            <a:schemeClr val="accent6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1"/>
          </p:nvPr>
        </p:nvSpPr>
        <p:spPr>
          <a:xfrm>
            <a:off x="846671" y="4364391"/>
            <a:ext cx="10539468" cy="170339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333" b="0">
                <a:solidFill>
                  <a:srgbClr val="FFFFFF"/>
                </a:solidFill>
                <a:latin typeface="Arial"/>
                <a:cs typeface="Arial"/>
              </a:defRPr>
            </a:lvl1pPr>
            <a:lvl2pPr algn="r">
              <a:defRPr b="1">
                <a:solidFill>
                  <a:srgbClr val="FFFFFF"/>
                </a:solidFill>
                <a:latin typeface="Arial"/>
                <a:cs typeface="Arial"/>
              </a:defRPr>
            </a:lvl2pPr>
            <a:lvl3pPr algn="r">
              <a:defRPr b="1">
                <a:solidFill>
                  <a:srgbClr val="FFFFFF"/>
                </a:solidFill>
                <a:latin typeface="Arial"/>
                <a:cs typeface="Arial"/>
              </a:defRPr>
            </a:lvl3pPr>
            <a:lvl4pPr algn="r">
              <a:defRPr b="1">
                <a:solidFill>
                  <a:srgbClr val="FFFFFF"/>
                </a:solidFill>
                <a:latin typeface="Arial"/>
                <a:cs typeface="Arial"/>
              </a:defRPr>
            </a:lvl4pPr>
            <a:lvl5pPr algn="r">
              <a:defRPr b="1">
                <a:solidFill>
                  <a:srgbClr val="FFFFFF"/>
                </a:solidFill>
                <a:latin typeface="Arial"/>
                <a:cs typeface="Arial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Rectangle 15"/>
          <p:cNvSpPr/>
          <p:nvPr userDrawn="1"/>
        </p:nvSpPr>
        <p:spPr>
          <a:xfrm>
            <a:off x="1" y="2213240"/>
            <a:ext cx="6053667" cy="1340453"/>
          </a:xfrm>
          <a:prstGeom prst="rect">
            <a:avLst/>
          </a:prstGeom>
          <a:solidFill>
            <a:srgbClr val="153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784" y="2771261"/>
            <a:ext cx="5405157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381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9316701" y="3583339"/>
            <a:ext cx="2523935" cy="21119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6045204" y="3583339"/>
            <a:ext cx="3271497" cy="13499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7313087" y="1250951"/>
            <a:ext cx="3761316" cy="2264652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3872" y="1797771"/>
            <a:ext cx="5354712" cy="4525963"/>
          </a:xfrm>
        </p:spPr>
        <p:txBody>
          <a:bodyPr/>
          <a:lstStyle>
            <a:lvl1pPr>
              <a:spcBef>
                <a:spcPts val="3400"/>
              </a:spcBef>
              <a:defRPr/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5067" y="6547444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 dirty="0"/>
              <a:t>CUBIC TRANSPORTATION SYSTEMS   |   </a:t>
            </a:r>
            <a:r>
              <a:rPr lang="en-US" i="1" dirty="0"/>
              <a:t>Intelligent Travel Made Real®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6184" y="6543210"/>
            <a:ext cx="37253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4C27EB8B-D1FE-ED46-AC87-6B0F7FF792E3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 userDrawn="1"/>
        </p:nvCxnSpPr>
        <p:spPr>
          <a:xfrm>
            <a:off x="5964300" y="3526891"/>
            <a:ext cx="5939961" cy="0"/>
          </a:xfrm>
          <a:prstGeom prst="line">
            <a:avLst/>
          </a:prstGeom>
          <a:ln w="762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 userDrawn="1"/>
        </p:nvCxnSpPr>
        <p:spPr>
          <a:xfrm>
            <a:off x="9316699" y="3515603"/>
            <a:ext cx="0" cy="2389899"/>
          </a:xfrm>
          <a:prstGeom prst="line">
            <a:avLst/>
          </a:prstGeom>
          <a:ln w="762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Date Placeholder 3"/>
          <p:cNvSpPr>
            <a:spLocks noGrp="1"/>
          </p:cNvSpPr>
          <p:nvPr>
            <p:ph type="dt" sz="half" idx="2"/>
          </p:nvPr>
        </p:nvSpPr>
        <p:spPr>
          <a:xfrm>
            <a:off x="9108729" y="6565548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600" kern="1200" smtClean="0">
                <a:solidFill>
                  <a:schemeClr val="tx1">
                    <a:tint val="75000"/>
                  </a:schemeClr>
                </a:solidFill>
                <a:latin typeface="Arial"/>
                <a:ea typeface="+mn-ea"/>
                <a:cs typeface="Arial"/>
              </a:defRPr>
            </a:lvl1pPr>
          </a:lstStyle>
          <a:p>
            <a:r>
              <a:rPr lang="en-US" dirty="0"/>
              <a:t>CONFIIDENTIAL &amp; PROPRIETARY</a:t>
            </a:r>
          </a:p>
        </p:txBody>
      </p:sp>
    </p:spTree>
    <p:extLst>
      <p:ext uri="{BB962C8B-B14F-4D97-AF65-F5344CB8AC3E}">
        <p14:creationId xmlns:p14="http://schemas.microsoft.com/office/powerpoint/2010/main" val="1835294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xmlns:p14="http://schemas.microsoft.com/office/powerpoint/2010/main"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2072A0-AC55-1484-6587-A6C7339F8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F21F61-9BBE-B9F4-EE07-0F76C4DEFD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EE8BD8-E7E2-12AB-2403-C67681043B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4CF480-1311-4607-8425-C11D92941375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ED27E1-00BA-03C5-F530-67CDC738C5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4E4E6-D43B-40BE-9A02-B94A6DBD86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FD4B5-1DEF-47CE-B536-C14849169E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126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3" r:id="rId12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2267" y="166021"/>
            <a:ext cx="10972800" cy="88637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2267" y="1261751"/>
            <a:ext cx="10972800" cy="499722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6184" y="6543210"/>
            <a:ext cx="37253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fld id="{4C27EB8B-D1FE-ED46-AC87-6B0F7FF792E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45067" y="6488010"/>
            <a:ext cx="38608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  <a:latin typeface="Arial"/>
                <a:cs typeface="Arial"/>
              </a:defRPr>
            </a:lvl1pPr>
          </a:lstStyle>
          <a:p>
            <a:r>
              <a:rPr lang="en-US">
                <a:solidFill>
                  <a:srgbClr val="595A5A">
                    <a:tint val="75000"/>
                  </a:srgbClr>
                </a:solidFill>
              </a:rPr>
              <a:t>CUBIC PROPRIETARY   |   Overview</a:t>
            </a:r>
            <a:endParaRPr lang="en-US" i="1">
              <a:solidFill>
                <a:srgbClr val="595A5A">
                  <a:tint val="7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356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609570" rtl="0" eaLnBrk="1" latinLnBrk="0" hangingPunct="1">
        <a:spcBef>
          <a:spcPct val="0"/>
        </a:spcBef>
        <a:buNone/>
        <a:defRPr sz="3200" kern="1200" cap="all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9019" indent="-309019" algn="l" defTabSz="609570" rtl="0" eaLnBrk="1" latinLnBrk="0" hangingPunct="1">
        <a:spcBef>
          <a:spcPts val="533"/>
        </a:spcBef>
        <a:spcAft>
          <a:spcPts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376748" algn="l" defTabSz="609570" rtl="0" eaLnBrk="1" latinLnBrk="0" hangingPunct="1">
        <a:spcBef>
          <a:spcPts val="533"/>
        </a:spcBef>
        <a:buFont typeface="Arial"/>
        <a:buChar char="–"/>
        <a:defRPr sz="24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918588" indent="-232822" algn="l" defTabSz="609570" rtl="0" eaLnBrk="1" latinLnBrk="0" hangingPunct="1">
        <a:spcBef>
          <a:spcPts val="533"/>
        </a:spcBef>
        <a:buFont typeface="Arial"/>
        <a:buChar char="•"/>
        <a:defRPr sz="2400" i="1" kern="1200">
          <a:solidFill>
            <a:schemeClr val="tx1"/>
          </a:solidFill>
          <a:latin typeface="+mn-lt"/>
          <a:ea typeface="+mn-ea"/>
          <a:cs typeface="+mn-cs"/>
        </a:defRPr>
      </a:lvl3pPr>
      <a:lvl4pPr marL="1295336" indent="-376748" algn="l" defTabSz="609570" rtl="0" eaLnBrk="1" latinLnBrk="0" hangingPunct="1">
        <a:spcBef>
          <a:spcPts val="533"/>
        </a:spcBef>
        <a:buFont typeface="Arial"/>
        <a:buChar char="–"/>
        <a:defRPr sz="2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604353" indent="-309019" algn="l" defTabSz="609570" rtl="0" eaLnBrk="1" latinLnBrk="0" hangingPunct="1">
        <a:spcBef>
          <a:spcPts val="533"/>
        </a:spcBef>
        <a:buFont typeface="Arial"/>
        <a:buChar char="»"/>
        <a:defRPr sz="2400" i="1" kern="1200">
          <a:solidFill>
            <a:schemeClr val="tx1"/>
          </a:solidFill>
          <a:latin typeface="+mn-lt"/>
          <a:ea typeface="+mn-ea"/>
          <a:cs typeface="+mn-cs"/>
        </a:defRPr>
      </a:lvl5pPr>
      <a:lvl6pPr marL="335263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20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2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341" indent="-304784" algn="l" defTabSz="609570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7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40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09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7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84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418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98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557" algn="l" defTabSz="6095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0" y="5833180"/>
            <a:ext cx="9633284" cy="534077"/>
          </a:xfrm>
        </p:spPr>
        <p:txBody>
          <a:bodyPr/>
          <a:lstStyle/>
          <a:p>
            <a:r>
              <a:rPr lang="en-US" b="1" dirty="0">
                <a:solidFill>
                  <a:srgbClr val="153C9F"/>
                </a:solidFill>
              </a:rPr>
              <a:t>Production‑Grade RAG Architecture – Executive Overview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80182" y="6367257"/>
            <a:ext cx="3887970" cy="343333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rgbClr val="153C9F"/>
                </a:solidFill>
              </a:rPr>
              <a:t>Ramachandra – Software Architect</a:t>
            </a:r>
          </a:p>
        </p:txBody>
      </p:sp>
    </p:spTree>
    <p:extLst>
      <p:ext uri="{BB962C8B-B14F-4D97-AF65-F5344CB8AC3E}">
        <p14:creationId xmlns:p14="http://schemas.microsoft.com/office/powerpoint/2010/main" val="2536419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3764AA-83B1-648A-7CDF-DE1F5095C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3CAC1A39-AC8B-7EEF-619F-718C0019DF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D1AD189-7413-DCCC-FBB4-EF5D2F9A5C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1"/>
            <a:ext cx="12191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C413338-E046-2963-2C54-AA08DC93A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8" y="1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236FC7D-926C-BAC6-EBAA-9F8481A224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BCC9AB-A7F0-67A1-687B-4740E7282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73" y="348866"/>
            <a:ext cx="10090256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620738-8332-6952-1DC7-16FCFBEBF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75460"/>
            <a:ext cx="12191998" cy="5282539"/>
          </a:xfrm>
        </p:spPr>
        <p:txBody>
          <a:bodyPr>
            <a:noAutofit/>
          </a:bodyPr>
          <a:lstStyle/>
          <a:p>
            <a:r>
              <a:rPr lang="en-US" sz="2000" b="1" dirty="0"/>
              <a:t>Why Generative AI Alone Is Not Enterprise‑Ready</a:t>
            </a:r>
          </a:p>
          <a:p>
            <a:endParaRPr lang="en-US" sz="2000" b="1" dirty="0"/>
          </a:p>
          <a:p>
            <a:r>
              <a:rPr lang="en-US" sz="2000" dirty="0"/>
              <a:t>Large Language Models are powerful—but on their own, they are not suitable for critical business use.</a:t>
            </a:r>
          </a:p>
          <a:p>
            <a:endParaRPr lang="en-US" sz="2000" dirty="0"/>
          </a:p>
          <a:p>
            <a:r>
              <a:rPr lang="en-US" sz="2000" dirty="0"/>
              <a:t>They are trained on public, generic data, not your company’s knowledge</a:t>
            </a:r>
          </a:p>
          <a:p>
            <a:r>
              <a:rPr lang="en-US" sz="2000" dirty="0"/>
              <a:t>They cannot reliably access proprietary, confidential, or domain‑specific information</a:t>
            </a:r>
          </a:p>
          <a:p>
            <a:r>
              <a:rPr lang="en-US" sz="2000" dirty="0"/>
              <a:t>They may produce confident but incorrect answers, creating operational and reputational risk</a:t>
            </a:r>
          </a:p>
          <a:p>
            <a:r>
              <a:rPr lang="en-US" sz="2000" dirty="0"/>
              <a:t>They offer limited traceability and explainability, which raises compliance and trust concerns</a:t>
            </a:r>
          </a:p>
          <a:p>
            <a:endParaRPr lang="en-US" sz="2000" dirty="0"/>
          </a:p>
          <a:p>
            <a:r>
              <a:rPr lang="en-US" sz="2000" b="1" dirty="0"/>
              <a:t>Bottom line</a:t>
            </a:r>
            <a:r>
              <a:rPr lang="en-US" sz="2000" dirty="0"/>
              <a:t>:</a:t>
            </a:r>
          </a:p>
          <a:p>
            <a:r>
              <a:rPr lang="en-US" sz="2000" dirty="0"/>
              <a:t>Without additional controls, GenAI cannot be safely deployed for core enterprise workflows.</a:t>
            </a:r>
          </a:p>
          <a:p>
            <a:pPr marL="0" indent="0">
              <a:buNone/>
            </a:pP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959321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B45DF2-7E3B-6A46-60EA-453741691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4B2286F8-6F7E-022B-0069-82D9F5758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0495CFC-865E-BC32-2DC4-DD249FA72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1"/>
            <a:ext cx="12191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21A02D9-7056-5151-C1BF-61842E1B07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8" y="1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295365B-5579-A128-1D2F-9F730F8247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47A1D6-5394-DCF3-C585-82050FE3F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73" y="348866"/>
            <a:ext cx="10090256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Solution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D279AC-545A-F092-C310-479BCEB122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575460"/>
            <a:ext cx="12191998" cy="52825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b="1" dirty="0"/>
              <a:t>Retrieval‑Augmented Generation (RAG)</a:t>
            </a:r>
          </a:p>
          <a:p>
            <a:pPr marL="0" indent="0">
              <a:buNone/>
            </a:pPr>
            <a:endParaRPr lang="en-US" sz="2000" b="1" dirty="0"/>
          </a:p>
          <a:p>
            <a:r>
              <a:rPr lang="en-US" sz="2000" dirty="0"/>
              <a:t>RAG converts GenAI from an experimental tool into a business‑ready capability.</a:t>
            </a:r>
          </a:p>
          <a:p>
            <a:endParaRPr lang="en-US" sz="2000" dirty="0"/>
          </a:p>
          <a:p>
            <a:r>
              <a:rPr lang="en-US" sz="2000" dirty="0"/>
              <a:t>It works by:</a:t>
            </a:r>
          </a:p>
          <a:p>
            <a:pPr lvl="1"/>
            <a:r>
              <a:rPr lang="en-US" sz="2000" dirty="0"/>
              <a:t>Retrieving relevant internal knowledge in real time</a:t>
            </a:r>
          </a:p>
          <a:p>
            <a:pPr lvl="1"/>
            <a:r>
              <a:rPr lang="en-US" sz="2000" dirty="0"/>
              <a:t>Combining that knowledge with the AI model before it responds</a:t>
            </a:r>
          </a:p>
          <a:p>
            <a:pPr lvl="1"/>
            <a:r>
              <a:rPr lang="en-US" sz="2000" dirty="0"/>
              <a:t>Ensuring answers are grounded in verifiable, approved sources</a:t>
            </a:r>
          </a:p>
          <a:p>
            <a:endParaRPr lang="en-US" sz="2000" dirty="0"/>
          </a:p>
          <a:p>
            <a:r>
              <a:rPr lang="en-US" sz="2000" dirty="0"/>
              <a:t>Result:</a:t>
            </a:r>
          </a:p>
          <a:p>
            <a:pPr lvl="1"/>
            <a:r>
              <a:rPr lang="en-US" sz="2000" dirty="0"/>
              <a:t>More accurate and consistent responses</a:t>
            </a:r>
          </a:p>
          <a:p>
            <a:pPr lvl="1"/>
            <a:r>
              <a:rPr lang="en-US" sz="2000" dirty="0"/>
              <a:t>Clear traceability to source data</a:t>
            </a:r>
          </a:p>
          <a:p>
            <a:pPr lvl="1"/>
            <a:r>
              <a:rPr lang="en-US" sz="2000" dirty="0"/>
              <a:t>AI that leadership, regulators, and customers can trust</a:t>
            </a:r>
          </a:p>
        </p:txBody>
      </p:sp>
    </p:spTree>
    <p:extLst>
      <p:ext uri="{BB962C8B-B14F-4D97-AF65-F5344CB8AC3E}">
        <p14:creationId xmlns:p14="http://schemas.microsoft.com/office/powerpoint/2010/main" val="1112076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669FF2-242C-67F0-5E8A-F7FAF0423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0169112B-B5D0-6306-82DA-CB5360EB03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75614F9-91A7-CD49-8AC0-19CAAA1D8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1"/>
            <a:ext cx="12191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938E970-975D-644B-F465-221D5BB3F3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8" y="1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626E5D7-AEBE-A640-BF33-5BF347B716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89ABA1-84F9-54F5-B928-DF7D86E96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73" y="348866"/>
            <a:ext cx="10090256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RAG High-Level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CAADA8-3071-BE22-8F93-64CDC9A3F8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06737"/>
            <a:ext cx="12192000" cy="525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343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0CE0B4-B650-7EE6-F84E-790EB0A9E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A8444BF-8BBE-3B41-7F85-BC5166C523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FDCDB6-370A-02C9-6E50-20E43C3BE2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1"/>
            <a:ext cx="12191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5464E22-E0C8-6308-036C-8A054363C1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8" y="1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A48FF5B-767D-C7E9-8687-65531614F1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F358E4-2E5B-2B60-BB14-79C9EDA56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173" y="348866"/>
            <a:ext cx="10090256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RAG High-Level Architecture - Pipeline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F3C023D-0089-E345-109D-DAB5D11E9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2151"/>
            <a:ext cx="3537757" cy="51758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D9E8585-A0A6-2B2A-3947-7C7082148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6705" y="1575460"/>
            <a:ext cx="5039428" cy="528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961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D9347B-A1C5-21C8-22BB-3533393B1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3C8E519-147D-88BD-ACA5-C58C7B0A06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0C9DFE7-FAC4-3CFE-0D8C-D6E1366CA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1"/>
            <a:ext cx="12191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0727611-3308-D8F4-6971-0F3250F6F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8" y="1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783A9E8-FB6B-2637-FF14-1ACB04F40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3FD4CC-1968-0497-DA8B-9AC2B96ED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" y="322800"/>
            <a:ext cx="12121825" cy="877729"/>
          </a:xfrm>
        </p:spPr>
        <p:txBody>
          <a:bodyPr anchor="ctr">
            <a:norm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Why This Architecture Is Enterprise‑Ready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A40481-4DAC-44FF-9877-C35DDF5639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" y="1575955"/>
            <a:ext cx="12121824" cy="5282043"/>
          </a:xfrm>
        </p:spPr>
        <p:txBody>
          <a:bodyPr>
            <a:normAutofit/>
          </a:bodyPr>
          <a:lstStyle/>
          <a:p>
            <a:pPr>
              <a:defRPr sz="1800"/>
            </a:pPr>
            <a:r>
              <a:rPr lang="en-US" sz="2000" b="1" dirty="0"/>
              <a:t>Data Ingestion Layer</a:t>
            </a:r>
            <a:endParaRPr lang="en-US" sz="2000" dirty="0"/>
          </a:p>
          <a:p>
            <a:pPr lvl="1">
              <a:defRPr sz="1800"/>
            </a:pPr>
            <a:r>
              <a:rPr lang="en-US" sz="1600" dirty="0"/>
              <a:t>Supports ingestion of structured and unstructured enterprise content</a:t>
            </a:r>
          </a:p>
          <a:p>
            <a:pPr>
              <a:defRPr sz="1800"/>
            </a:pPr>
            <a:r>
              <a:rPr lang="en-US" sz="2000" b="1" dirty="0"/>
              <a:t>Embedding &amp; Vector Storage</a:t>
            </a:r>
          </a:p>
          <a:p>
            <a:pPr lvl="1">
              <a:defRPr sz="1800"/>
            </a:pPr>
            <a:r>
              <a:rPr lang="en-US" sz="1600" dirty="0"/>
              <a:t>Use a configurable embedding model, stores in a vector database, enables high‑accuracy and relevance ranking</a:t>
            </a:r>
          </a:p>
          <a:p>
            <a:pPr>
              <a:defRPr sz="1800"/>
            </a:pPr>
            <a:r>
              <a:rPr lang="en-US" sz="2000" b="1" dirty="0"/>
              <a:t>Retrieval Layer</a:t>
            </a:r>
          </a:p>
          <a:p>
            <a:pPr lvl="1">
              <a:defRPr sz="1800"/>
            </a:pPr>
            <a:r>
              <a:rPr lang="en-US" sz="1600" dirty="0"/>
              <a:t>Semantic retrieval, top‑K relevant results, applies metadata filtering</a:t>
            </a:r>
          </a:p>
          <a:p>
            <a:pPr>
              <a:defRPr sz="1800"/>
            </a:pPr>
            <a:r>
              <a:rPr lang="en-US" sz="2000" b="1" dirty="0"/>
              <a:t>Prompt Engineering &amp; Context Injection</a:t>
            </a:r>
          </a:p>
          <a:p>
            <a:pPr lvl="1">
              <a:defRPr sz="1800"/>
            </a:pPr>
            <a:r>
              <a:rPr lang="en-US" sz="1600" dirty="0"/>
              <a:t>Reduces hallucinations through “answer‑from‑context‑only” enforcement</a:t>
            </a:r>
          </a:p>
          <a:p>
            <a:pPr>
              <a:defRPr sz="1800"/>
            </a:pPr>
            <a:r>
              <a:rPr lang="en-US" sz="2000" b="1" dirty="0"/>
              <a:t>LLM Integration</a:t>
            </a:r>
          </a:p>
          <a:p>
            <a:pPr lvl="1">
              <a:defRPr sz="1800"/>
            </a:pPr>
            <a:r>
              <a:rPr lang="en-US" sz="1600" dirty="0"/>
              <a:t>Designed to be model‑agnostic, enabling future model swaps</a:t>
            </a:r>
          </a:p>
          <a:p>
            <a:pPr>
              <a:defRPr sz="1800"/>
            </a:pPr>
            <a:r>
              <a:rPr lang="en-US" sz="2000" b="1" dirty="0"/>
              <a:t>Response Post‑Processing</a:t>
            </a:r>
          </a:p>
          <a:p>
            <a:pPr lvl="1">
              <a:defRPr sz="1800"/>
            </a:pPr>
            <a:r>
              <a:rPr lang="en-US" sz="1600" dirty="0"/>
              <a:t>Cleans and formats generated responses</a:t>
            </a:r>
          </a:p>
          <a:p>
            <a:pPr lvl="1">
              <a:defRPr sz="1800"/>
            </a:pPr>
            <a:r>
              <a:rPr lang="en-US" sz="1600" dirty="0"/>
              <a:t>Provides traceability and source attribution where applicable</a:t>
            </a:r>
          </a:p>
          <a:p>
            <a:pPr>
              <a:defRPr sz="1800"/>
            </a:pPr>
            <a:r>
              <a:rPr lang="en-US" sz="2000" b="1" i="1" dirty="0"/>
              <a:t>This implementation delivers a production‑ready RAG platform that ensures accurate, traceable, and scalable Generative AI responses using enterprise data</a:t>
            </a:r>
            <a:r>
              <a:rPr lang="en-US" sz="2000" dirty="0"/>
              <a:t>.</a:t>
            </a:r>
          </a:p>
          <a:p>
            <a:pPr>
              <a:defRPr sz="1800"/>
            </a:pPr>
            <a:endParaRPr lang="en-US" sz="2000" dirty="0"/>
          </a:p>
          <a:p>
            <a:pPr>
              <a:defRPr sz="1800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16204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145315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5_CTS_OVERVIEW_ppt_template_16by9_new branding_graphic heavy_NO VIDEOS">
  <a:themeElements>
    <a:clrScheme name="Cubic Transportation Sytems">
      <a:dk1>
        <a:srgbClr val="595A5A"/>
      </a:dk1>
      <a:lt1>
        <a:srgbClr val="FFFFFF"/>
      </a:lt1>
      <a:dk2>
        <a:srgbClr val="00548B"/>
      </a:dk2>
      <a:lt2>
        <a:srgbClr val="FFFFFF"/>
      </a:lt2>
      <a:accent1>
        <a:srgbClr val="00548B"/>
      </a:accent1>
      <a:accent2>
        <a:srgbClr val="00ADBB"/>
      </a:accent2>
      <a:accent3>
        <a:srgbClr val="F7A800"/>
      </a:accent3>
      <a:accent4>
        <a:srgbClr val="BCBEC0"/>
      </a:accent4>
      <a:accent5>
        <a:srgbClr val="6D6E71"/>
      </a:accent5>
      <a:accent6>
        <a:srgbClr val="000000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12700">
          <a:solidFill>
            <a:schemeClr val="accent1"/>
          </a:solidFill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 cmpd="sng">
          <a:solidFill>
            <a:schemeClr val="accent2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323</Words>
  <Application>Microsoft Office PowerPoint</Application>
  <PresentationFormat>Widescreen</PresentationFormat>
  <Paragraphs>47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15_CTS_OVERVIEW_ppt_template_16by9_new branding_graphic heavy_NO VIDEOS</vt:lpstr>
      <vt:lpstr>PowerPoint Presentation</vt:lpstr>
      <vt:lpstr>Problem Statement</vt:lpstr>
      <vt:lpstr>Solution</vt:lpstr>
      <vt:lpstr>RAG High-Level Architecture</vt:lpstr>
      <vt:lpstr>RAG High-Level Architecture - Pipeline</vt:lpstr>
      <vt:lpstr>Why This Architecture Is Enterprise‑Ready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GraphQL</dc:title>
  <dc:creator>Mothadaka, Ramachandra Rao (IN)</dc:creator>
  <cp:lastModifiedBy>Mothadaka, Ramachandra Rao (IN)</cp:lastModifiedBy>
  <cp:revision>1646</cp:revision>
  <dcterms:created xsi:type="dcterms:W3CDTF">2023-04-09T12:38:20Z</dcterms:created>
  <dcterms:modified xsi:type="dcterms:W3CDTF">2026-04-15T17:36:50Z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3fd08519-d6c6-43fb-b290-d45b6185117e_Enabled">
    <vt:lpwstr>true</vt:lpwstr>
  </property>
  <property fmtid="{D5CDD505-2E9C-101B-9397-08002B2CF9AE}" pid="3" name="MSIP_Label_3fd08519-d6c6-43fb-b290-d45b6185117e_SetDate">
    <vt:lpwstr>2023-06-02T13:49:13Z</vt:lpwstr>
  </property>
  <property fmtid="{D5CDD505-2E9C-101B-9397-08002B2CF9AE}" pid="4" name="MSIP_Label_3fd08519-d6c6-43fb-b290-d45b6185117e_Method">
    <vt:lpwstr>Privileged</vt:lpwstr>
  </property>
  <property fmtid="{D5CDD505-2E9C-101B-9397-08002B2CF9AE}" pid="5" name="MSIP_Label_3fd08519-d6c6-43fb-b290-d45b6185117e_Name">
    <vt:lpwstr>Internal Use</vt:lpwstr>
  </property>
  <property fmtid="{D5CDD505-2E9C-101B-9397-08002B2CF9AE}" pid="6" name="MSIP_Label_3fd08519-d6c6-43fb-b290-d45b6185117e_SiteId">
    <vt:lpwstr>10d6de58-a709-4821-a02c-4c46747e0059</vt:lpwstr>
  </property>
  <property fmtid="{D5CDD505-2E9C-101B-9397-08002B2CF9AE}" pid="7" name="MSIP_Label_3fd08519-d6c6-43fb-b290-d45b6185117e_ActionId">
    <vt:lpwstr>f4f4078d-3b8e-438c-af41-7d346b972510</vt:lpwstr>
  </property>
  <property fmtid="{D5CDD505-2E9C-101B-9397-08002B2CF9AE}" pid="8" name="MSIP_Label_3fd08519-d6c6-43fb-b290-d45b6185117e_ContentBits">
    <vt:lpwstr>2</vt:lpwstr>
  </property>
</Properties>
</file>