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sldIdLst>
    <p:sldId id="406" r:id="rId3"/>
    <p:sldId id="514" r:id="rId4"/>
    <p:sldId id="485" r:id="rId5"/>
    <p:sldId id="513" r:id="rId6"/>
    <p:sldId id="532" r:id="rId7"/>
    <p:sldId id="510" r:id="rId8"/>
    <p:sldId id="535" r:id="rId9"/>
    <p:sldId id="511" r:id="rId10"/>
    <p:sldId id="516" r:id="rId11"/>
    <p:sldId id="515" r:id="rId12"/>
    <p:sldId id="517" r:id="rId13"/>
    <p:sldId id="518" r:id="rId14"/>
    <p:sldId id="520" r:id="rId15"/>
    <p:sldId id="521" r:id="rId16"/>
    <p:sldId id="522" r:id="rId17"/>
    <p:sldId id="523" r:id="rId18"/>
    <p:sldId id="524" r:id="rId19"/>
    <p:sldId id="533" r:id="rId20"/>
    <p:sldId id="525" r:id="rId21"/>
    <p:sldId id="534" r:id="rId22"/>
    <p:sldId id="526" r:id="rId23"/>
    <p:sldId id="527" r:id="rId24"/>
    <p:sldId id="529" r:id="rId25"/>
    <p:sldId id="528" r:id="rId26"/>
    <p:sldId id="530" r:id="rId27"/>
    <p:sldId id="536" r:id="rId28"/>
    <p:sldId id="537" r:id="rId29"/>
    <p:sldId id="43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51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6BDC5-4673-4601-9BD9-497362126CB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DA272-4565-491F-92FF-A099E1B2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3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0C3B7-16F2-9445-91CE-7DC007D7EC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48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1F1E-0928-D9BE-7466-7D39735CB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1644C-0307-5972-5FAC-79847CFE0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17655-A362-AEB1-94BF-60CA1689F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D1A58-75FF-0AEA-B0B7-1218F767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1AC3-DA7A-2EA8-BF55-28D8D12F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E154-E7B5-223E-FC22-8BA5A481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4B13D-3E48-F248-3F11-CF79395C9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F1097-9A5F-4B98-2EB4-A17FE2F23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60BD2-978B-799F-925E-3A7F85CF4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F5CC6-A6FD-DB15-3668-96BB621B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E886-75C1-1C5B-1E2C-E79569DA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DC252-B6C0-57D4-3887-05C61822E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A1CBB-A293-5CB5-DA8E-B5D3F060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13B8-E518-3B22-0F93-DF388E27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88AB0-0B34-4241-544B-D9ADE196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3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CE02-A1A2-0E70-88BC-B8384A57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E8185-709D-299B-F0A3-323702C30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03791-A3F6-C1F4-1132-5F9F054B5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79DAD-11F1-59C5-4217-521C7B50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D78C5-5702-FB17-E070-A8685451D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5BF39-1EC4-1AE8-C9AA-09ED747D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94A6-404C-4741-5E24-7149FB31D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E4217-7AF6-8E83-336A-2AB529E1D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DC190-E9F0-8400-8946-908769FDB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A76B-0BDF-B85E-C0E7-5CC8FE293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1A966-EF82-8D5D-5C84-2E12AEB6B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74179-4ECE-4042-5D7E-D299E40B4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F6002-C84B-757B-94B3-67F2F2BD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A70E7E-A232-6352-F3AE-C8FD8CB3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1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5A74-0D41-B0D6-6B9A-C42841D2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03A38-3828-92D6-14CA-98C5F97A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00029-F8B2-D73B-7960-E3A974DC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17B1E-9DA0-3030-DEFD-F2667B6C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8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1A5577-8895-D33D-6281-0D79D451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C816A-8EAE-FBBB-1660-9563F359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BA6A5-FA82-B350-F6A9-ADEA1ADD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7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918F3-FE39-B8D8-1D53-A11B5774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4267D-6781-D779-0CE9-3B97FB194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4F27C-D318-0347-976A-D7884DB21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91042-C6B0-ECE4-6794-9E6C285B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1A31F-C89E-2755-045E-A208CECA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F05BD-1F83-0CAD-3A80-22F1D50E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0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F57F-EE55-A55E-276E-B6B23788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10FC1-FA2C-A30E-12C5-08465981F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D9203-60E1-F581-82EB-E84679FE8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FE708-7648-7023-C1A6-FC870C92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25A92-5CB6-BA0B-F834-CE1D35C0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79559-CEFE-B9C4-0047-5A38495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0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AE66-3FDC-3465-2EBE-FD37341A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3C218-A970-06EE-4890-6A9FB698F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94D-5E2B-B27A-DBDC-408AF37C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DCA9-9402-A383-8B24-E67D664E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109B-D71F-8023-68AE-4F6207EA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0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B7D62-F6EF-9720-3F6E-3F2FFAA2E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4ABC1-DB53-98C2-D213-640EB640E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A298-C865-F880-CAC6-83118C6F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A6D3-611E-DCC0-B354-9CDAD58A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CB54-6980-9148-1326-FF181474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15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40074" y="5815927"/>
            <a:ext cx="9029700" cy="534077"/>
          </a:xfrm>
        </p:spPr>
        <p:txBody>
          <a:bodyPr>
            <a:noAutofit/>
          </a:bodyPr>
          <a:lstStyle>
            <a:lvl1pPr marL="0" indent="0">
              <a:buNone/>
              <a:defRPr sz="2667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0" indent="0">
              <a:buFont typeface="Arial"/>
              <a:buNone/>
              <a:defRPr sz="1867" b="1">
                <a:solidFill>
                  <a:schemeClr val="accent1"/>
                </a:solidFill>
                <a:latin typeface="Arial"/>
                <a:cs typeface="Arial"/>
              </a:defRPr>
            </a:lvl2pPr>
            <a:lvl3pPr marL="1219170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3pPr>
            <a:lvl4pPr marL="1828754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4pPr>
            <a:lvl5pPr marL="2438339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8833580" y="6395951"/>
            <a:ext cx="3138781" cy="331437"/>
          </a:xfrm>
        </p:spPr>
        <p:txBody>
          <a:bodyPr>
            <a:noAutofit/>
          </a:bodyPr>
          <a:lstStyle>
            <a:lvl1pPr marL="0" indent="0" algn="r">
              <a:buNone/>
              <a:defRPr sz="1333">
                <a:solidFill>
                  <a:srgbClr val="00548B"/>
                </a:solidFill>
                <a:latin typeface="Arial"/>
                <a:cs typeface="Arial"/>
              </a:defRPr>
            </a:lvl1pPr>
            <a:lvl2pPr marL="609585" indent="0">
              <a:buNone/>
              <a:defRPr sz="1600">
                <a:solidFill>
                  <a:srgbClr val="00548B"/>
                </a:solidFill>
              </a:defRPr>
            </a:lvl2pPr>
            <a:lvl3pPr marL="1219170" indent="0">
              <a:buNone/>
              <a:defRPr sz="1600">
                <a:solidFill>
                  <a:srgbClr val="00548B"/>
                </a:solidFill>
              </a:defRPr>
            </a:lvl3pPr>
            <a:lvl4pPr marL="1828754" indent="0">
              <a:buNone/>
              <a:defRPr sz="1600">
                <a:solidFill>
                  <a:srgbClr val="00548B"/>
                </a:solidFill>
              </a:defRPr>
            </a:lvl4pPr>
            <a:lvl5pPr marL="2438339" indent="0">
              <a:buNone/>
              <a:defRPr sz="1600">
                <a:solidFill>
                  <a:srgbClr val="00548B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" b="6832"/>
          <a:stretch/>
        </p:blipFill>
        <p:spPr>
          <a:xfrm>
            <a:off x="0" y="-38100"/>
            <a:ext cx="12192000" cy="5715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328974"/>
            <a:ext cx="6053667" cy="1340453"/>
          </a:xfrm>
          <a:prstGeom prst="rect">
            <a:avLst/>
          </a:prstGeom>
          <a:solidFill>
            <a:srgbClr val="15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3" y="4886999"/>
            <a:ext cx="5405157" cy="50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38973" y="6294971"/>
            <a:ext cx="8961967" cy="956733"/>
          </a:xfrm>
        </p:spPr>
        <p:txBody>
          <a:bodyPr/>
          <a:lstStyle>
            <a:lvl1pPr marL="0" indent="0">
              <a:buFontTx/>
              <a:buNone/>
              <a:defRPr sz="2133">
                <a:solidFill>
                  <a:schemeClr val="accent1"/>
                </a:solidFill>
              </a:defRPr>
            </a:lvl1pPr>
            <a:lvl2pPr marL="309026" indent="0">
              <a:buFontTx/>
              <a:buNone/>
              <a:defRPr sz="1867">
                <a:solidFill>
                  <a:schemeClr val="accent1"/>
                </a:solidFill>
              </a:defRPr>
            </a:lvl2pPr>
            <a:lvl3pPr marL="685783" indent="0">
              <a:buFontTx/>
              <a:buNone/>
              <a:defRPr sz="1867">
                <a:solidFill>
                  <a:schemeClr val="accent1"/>
                </a:solidFill>
              </a:defRPr>
            </a:lvl3pPr>
            <a:lvl4pPr marL="918610" indent="0">
              <a:buFontTx/>
              <a:buNone/>
              <a:defRPr sz="1867">
                <a:solidFill>
                  <a:schemeClr val="accent1"/>
                </a:solidFill>
              </a:defRPr>
            </a:lvl4pPr>
            <a:lvl5pPr marL="1295368" indent="0">
              <a:buFontTx/>
              <a:buNone/>
              <a:defRPr sz="1867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Presenter Name –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14237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40075" y="5815929"/>
            <a:ext cx="9029700" cy="534077"/>
          </a:xfrm>
        </p:spPr>
        <p:txBody>
          <a:bodyPr>
            <a:noAutofit/>
          </a:bodyPr>
          <a:lstStyle>
            <a:lvl1pPr marL="0" indent="0">
              <a:buNone/>
              <a:defRPr sz="2667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0" indent="0">
              <a:buFont typeface="Arial"/>
              <a:buNone/>
              <a:defRPr sz="1867" b="1">
                <a:solidFill>
                  <a:schemeClr val="accent1"/>
                </a:solidFill>
                <a:latin typeface="Arial"/>
                <a:cs typeface="Arial"/>
              </a:defRPr>
            </a:lvl2pPr>
            <a:lvl3pPr marL="1219140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3pPr>
            <a:lvl4pPr marL="1828709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4pPr>
            <a:lvl5pPr marL="2438278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8833580" y="6395953"/>
            <a:ext cx="3138781" cy="331437"/>
          </a:xfrm>
        </p:spPr>
        <p:txBody>
          <a:bodyPr>
            <a:noAutofit/>
          </a:bodyPr>
          <a:lstStyle>
            <a:lvl1pPr marL="0" indent="0" algn="r">
              <a:buNone/>
              <a:defRPr sz="1333">
                <a:solidFill>
                  <a:srgbClr val="00548B"/>
                </a:solidFill>
                <a:latin typeface="Arial"/>
                <a:cs typeface="Arial"/>
              </a:defRPr>
            </a:lvl1pPr>
            <a:lvl2pPr marL="609570" indent="0">
              <a:buNone/>
              <a:defRPr sz="1600">
                <a:solidFill>
                  <a:srgbClr val="00548B"/>
                </a:solidFill>
              </a:defRPr>
            </a:lvl2pPr>
            <a:lvl3pPr marL="1219140" indent="0">
              <a:buNone/>
              <a:defRPr sz="1600">
                <a:solidFill>
                  <a:srgbClr val="00548B"/>
                </a:solidFill>
              </a:defRPr>
            </a:lvl3pPr>
            <a:lvl4pPr marL="1828709" indent="0">
              <a:buNone/>
              <a:defRPr sz="1600">
                <a:solidFill>
                  <a:srgbClr val="00548B"/>
                </a:solidFill>
              </a:defRPr>
            </a:lvl4pPr>
            <a:lvl5pPr marL="2438278" indent="0">
              <a:buNone/>
              <a:defRPr sz="1600">
                <a:solidFill>
                  <a:srgbClr val="00548B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" b="6832"/>
          <a:stretch/>
        </p:blipFill>
        <p:spPr>
          <a:xfrm>
            <a:off x="0" y="-38100"/>
            <a:ext cx="12192000" cy="5715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" y="4328976"/>
            <a:ext cx="6053667" cy="1340453"/>
          </a:xfrm>
          <a:prstGeom prst="rect">
            <a:avLst/>
          </a:prstGeom>
          <a:solidFill>
            <a:srgbClr val="15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4" y="4886999"/>
            <a:ext cx="5405157" cy="50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38974" y="6294973"/>
            <a:ext cx="8961967" cy="956733"/>
          </a:xfrm>
        </p:spPr>
        <p:txBody>
          <a:bodyPr/>
          <a:lstStyle>
            <a:lvl1pPr marL="0" indent="0">
              <a:buFontTx/>
              <a:buNone/>
              <a:defRPr sz="2133">
                <a:solidFill>
                  <a:schemeClr val="accent1"/>
                </a:solidFill>
              </a:defRPr>
            </a:lvl1pPr>
            <a:lvl2pPr marL="309019" indent="0">
              <a:buFontTx/>
              <a:buNone/>
              <a:defRPr sz="1867">
                <a:solidFill>
                  <a:schemeClr val="accent1"/>
                </a:solidFill>
              </a:defRPr>
            </a:lvl2pPr>
            <a:lvl3pPr marL="685766" indent="0">
              <a:buFontTx/>
              <a:buNone/>
              <a:defRPr sz="1867">
                <a:solidFill>
                  <a:schemeClr val="accent1"/>
                </a:solidFill>
              </a:defRPr>
            </a:lvl3pPr>
            <a:lvl4pPr marL="918588" indent="0">
              <a:buFontTx/>
              <a:buNone/>
              <a:defRPr sz="1867">
                <a:solidFill>
                  <a:schemeClr val="accent1"/>
                </a:solidFill>
              </a:defRPr>
            </a:lvl4pPr>
            <a:lvl5pPr marL="1295336" indent="0">
              <a:buFontTx/>
              <a:buNone/>
              <a:defRPr sz="1867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Presenter Name –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02146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95A5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595A5A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1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2269" y="166021"/>
            <a:ext cx="5822935" cy="88637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239" y="6541885"/>
            <a:ext cx="3078712" cy="281923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2269" y="1528572"/>
            <a:ext cx="5822935" cy="4730408"/>
          </a:xfrm>
        </p:spPr>
        <p:txBody>
          <a:bodyPr/>
          <a:lstStyle>
            <a:lvl1pPr>
              <a:spcAft>
                <a:spcPts val="2400"/>
              </a:spcAft>
              <a:defRPr sz="2400">
                <a:solidFill>
                  <a:srgbClr val="595A5A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spcAft>
                <a:spcPts val="2400"/>
              </a:spcAft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  <p:sp>
        <p:nvSpPr>
          <p:cNvPr id="9" name="Content Placeholder 24"/>
          <p:cNvSpPr txBox="1">
            <a:spLocks/>
          </p:cNvSpPr>
          <p:nvPr userDrawn="1"/>
        </p:nvSpPr>
        <p:spPr bwMode="auto">
          <a:xfrm>
            <a:off x="6068829" y="4"/>
            <a:ext cx="6123171" cy="6857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609600" tIns="182880" rIns="243840" bIns="18288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•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–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•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–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»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333"/>
              </a:spcAft>
              <a:buClr>
                <a:schemeClr val="bg1"/>
              </a:buClr>
              <a:buNone/>
              <a:tabLst>
                <a:tab pos="309019" algn="l"/>
              </a:tabLst>
            </a:pPr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937" y="6586145"/>
            <a:ext cx="2595345" cy="2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9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509925" y="0"/>
            <a:ext cx="568207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6566371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2269" y="166021"/>
            <a:ext cx="5822935" cy="88637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239" y="6541885"/>
            <a:ext cx="3078712" cy="281923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2269" y="1528572"/>
            <a:ext cx="5822935" cy="4730408"/>
          </a:xfrm>
        </p:spPr>
        <p:txBody>
          <a:bodyPr/>
          <a:lstStyle>
            <a:lvl1pPr>
              <a:spcAft>
                <a:spcPts val="2400"/>
              </a:spcAft>
              <a:defRPr sz="2133">
                <a:solidFill>
                  <a:schemeClr val="bg1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spcAft>
                <a:spcPts val="2400"/>
              </a:spcAft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039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509925" y="0"/>
            <a:ext cx="568207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6566371" cy="6858000"/>
          </a:xfrm>
          <a:prstGeom prst="rect">
            <a:avLst/>
          </a:prstGeom>
          <a:solidFill>
            <a:srgbClr val="50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2269" y="166021"/>
            <a:ext cx="5822935" cy="88637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239" y="6541885"/>
            <a:ext cx="3078712" cy="281923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2269" y="1528572"/>
            <a:ext cx="5822935" cy="4730408"/>
          </a:xfrm>
        </p:spPr>
        <p:txBody>
          <a:bodyPr/>
          <a:lstStyle>
            <a:lvl1pPr>
              <a:spcAft>
                <a:spcPts val="2400"/>
              </a:spcAft>
              <a:defRPr sz="2133">
                <a:solidFill>
                  <a:schemeClr val="bg1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spcAft>
                <a:spcPts val="2400"/>
              </a:spcAft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742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68207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625629" y="0"/>
            <a:ext cx="6566371" cy="6858000"/>
          </a:xfrm>
          <a:prstGeom prst="rect">
            <a:avLst/>
          </a:prstGeom>
          <a:solidFill>
            <a:srgbClr val="50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60786" y="166021"/>
            <a:ext cx="5822935" cy="88637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960786" y="1528572"/>
            <a:ext cx="5822935" cy="4730408"/>
          </a:xfrm>
        </p:spPr>
        <p:txBody>
          <a:bodyPr/>
          <a:lstStyle>
            <a:lvl1pPr>
              <a:spcAft>
                <a:spcPts val="2400"/>
              </a:spcAft>
              <a:defRPr sz="2133">
                <a:solidFill>
                  <a:schemeClr val="bg1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spcAft>
                <a:spcPts val="2400"/>
              </a:spcAft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45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379308" y="1123953"/>
            <a:ext cx="11418993" cy="5255683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1865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6" y="6511053"/>
            <a:ext cx="2039001" cy="27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6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4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33878" y="1941513"/>
            <a:ext cx="11326281" cy="4293955"/>
            <a:chOff x="-265111" y="32051"/>
            <a:chExt cx="8494711" cy="4293954"/>
          </a:xfrm>
        </p:grpSpPr>
        <p:sp>
          <p:nvSpPr>
            <p:cNvPr id="19" name="Rectangle 18"/>
            <p:cNvSpPr/>
            <p:nvPr/>
          </p:nvSpPr>
          <p:spPr>
            <a:xfrm>
              <a:off x="0" y="1676405"/>
              <a:ext cx="8229600" cy="26496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-265111" y="32051"/>
              <a:ext cx="4241798" cy="2649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1290" tIns="35560" rIns="199136" bIns="35560" numCol="1" spcCol="1270" anchor="t" anchorCtr="0">
              <a:noAutofit/>
            </a:bodyPr>
            <a:lstStyle/>
            <a:p>
              <a:pPr marL="380981" lvl="1" indent="-380981" algn="l" defTabSz="1659384" rtl="0">
                <a:lnSpc>
                  <a:spcPct val="110000"/>
                </a:lnSpc>
                <a:spcBef>
                  <a:spcPct val="0"/>
                </a:spcBef>
                <a:spcAft>
                  <a:spcPts val="2400"/>
                </a:spcAft>
                <a:buChar char="••"/>
              </a:pPr>
              <a:r>
                <a:rPr lang="en-US" sz="2400" kern="12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 integrated system that is scalable to include other agencies and modes</a:t>
              </a:r>
            </a:p>
            <a:p>
              <a:pPr marL="380981" lvl="1" indent="-380981" algn="l" defTabSz="1659384" rtl="0">
                <a:lnSpc>
                  <a:spcPct val="110000"/>
                </a:lnSpc>
                <a:spcBef>
                  <a:spcPct val="0"/>
                </a:spcBef>
                <a:spcAft>
                  <a:spcPts val="2400"/>
                </a:spcAft>
                <a:buChar char="••"/>
              </a:pPr>
              <a:r>
                <a:rPr lang="en-US" sz="2400" kern="12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Offers a new range of convenience for MTA customers </a:t>
              </a:r>
              <a:endParaRPr lang="en-US" sz="2400" b="1" kern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80981" lvl="1" indent="-380981" algn="l" defTabSz="1659384" rtl="0">
                <a:lnSpc>
                  <a:spcPct val="110000"/>
                </a:lnSpc>
                <a:spcBef>
                  <a:spcPct val="0"/>
                </a:spcBef>
                <a:spcAft>
                  <a:spcPts val="2400"/>
                </a:spcAft>
                <a:buChar char="••"/>
              </a:pPr>
              <a:r>
                <a:rPr lang="en-US" sz="2400" kern="12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Contactless bankcards and mobile ticketing</a:t>
              </a:r>
            </a:p>
            <a:p>
              <a:pPr marL="380981" lvl="1" indent="-380981" algn="l" defTabSz="1659384" rtl="0">
                <a:lnSpc>
                  <a:spcPct val="110000"/>
                </a:lnSpc>
                <a:spcBef>
                  <a:spcPct val="0"/>
                </a:spcBef>
                <a:spcAft>
                  <a:spcPts val="2400"/>
                </a:spcAft>
                <a:buChar char="••"/>
              </a:pPr>
              <a:r>
                <a:rPr lang="en-US" sz="2400" kern="12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Available for all modes of transportation</a:t>
              </a:r>
            </a:p>
          </p:txBody>
        </p:sp>
      </p:grp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1" r="8530" b="11411"/>
          <a:stretch/>
        </p:blipFill>
        <p:spPr>
          <a:xfrm>
            <a:off x="-4" y="2"/>
            <a:ext cx="12192005" cy="6858003"/>
          </a:xfrm>
          <a:prstGeom prst="rect">
            <a:avLst/>
          </a:prstGeom>
        </p:spPr>
      </p:pic>
      <p:sp>
        <p:nvSpPr>
          <p:cNvPr id="30" name="Rectangle 29"/>
          <p:cNvSpPr/>
          <p:nvPr userDrawn="1"/>
        </p:nvSpPr>
        <p:spPr>
          <a:xfrm>
            <a:off x="6584" y="3540150"/>
            <a:ext cx="12192000" cy="3317853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846671" y="4364391"/>
            <a:ext cx="10539468" cy="17033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333" b="0">
                <a:solidFill>
                  <a:srgbClr val="FFFFFF"/>
                </a:solidFill>
                <a:latin typeface="Arial"/>
                <a:cs typeface="Arial"/>
              </a:defRPr>
            </a:lvl1pPr>
            <a:lvl2pPr algn="r">
              <a:defRPr b="1">
                <a:solidFill>
                  <a:srgbClr val="FFFFFF"/>
                </a:solidFill>
                <a:latin typeface="Arial"/>
                <a:cs typeface="Arial"/>
              </a:defRPr>
            </a:lvl2pPr>
            <a:lvl3pPr algn="r">
              <a:defRPr b="1">
                <a:solidFill>
                  <a:srgbClr val="FFFFFF"/>
                </a:solidFill>
                <a:latin typeface="Arial"/>
                <a:cs typeface="Arial"/>
              </a:defRPr>
            </a:lvl3pPr>
            <a:lvl4pPr algn="r">
              <a:defRPr b="1">
                <a:solidFill>
                  <a:srgbClr val="FFFFFF"/>
                </a:solidFill>
                <a:latin typeface="Arial"/>
                <a:cs typeface="Arial"/>
              </a:defRPr>
            </a:lvl4pPr>
            <a:lvl5pPr algn="r">
              <a:defRPr b="1">
                <a:solidFill>
                  <a:srgbClr val="FFFFFF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1" y="2213240"/>
            <a:ext cx="6053667" cy="1340453"/>
          </a:xfrm>
          <a:prstGeom prst="rect">
            <a:avLst/>
          </a:prstGeom>
          <a:solidFill>
            <a:srgbClr val="15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4" y="2771261"/>
            <a:ext cx="5405157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8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9316701" y="3583339"/>
            <a:ext cx="2523935" cy="21119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045204" y="3583339"/>
            <a:ext cx="3271497" cy="13499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313087" y="1250951"/>
            <a:ext cx="3761316" cy="226465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872" y="1797771"/>
            <a:ext cx="5354712" cy="4525963"/>
          </a:xfrm>
        </p:spPr>
        <p:txBody>
          <a:bodyPr/>
          <a:lstStyle>
            <a:lvl1pPr>
              <a:spcBef>
                <a:spcPts val="34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54744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CUBIC TRANSPORTATION SYSTEMS   |   </a:t>
            </a:r>
            <a:r>
              <a:rPr lang="en-US" i="1" dirty="0"/>
              <a:t>Intelligent Travel Made Real®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964300" y="3526891"/>
            <a:ext cx="5939961" cy="0"/>
          </a:xfrm>
          <a:prstGeom prst="line">
            <a:avLst/>
          </a:prstGeom>
          <a:ln w="762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316699" y="3515603"/>
            <a:ext cx="0" cy="2389899"/>
          </a:xfrm>
          <a:prstGeom prst="line">
            <a:avLst/>
          </a:prstGeom>
          <a:ln w="762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108729" y="656554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600" kern="1200" smtClean="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r>
              <a:rPr lang="en-US" dirty="0"/>
              <a:t>CONFIIDENTIAL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8352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072A0-AC55-1484-6587-A6C7339F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21F61-9BBE-B9F4-EE07-0F76C4DEF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8BD8-E7E2-12AB-2403-C67681043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CF480-1311-4607-8425-C11D929413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27E1-00BA-03C5-F530-67CDC738C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4E4E6-D43B-40BE-9A02-B94A6DBD8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2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267" y="166021"/>
            <a:ext cx="10972800" cy="8863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267" y="1261751"/>
            <a:ext cx="10972800" cy="4997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35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09570" rtl="0" eaLnBrk="1" latinLnBrk="0" hangingPunct="1">
        <a:spcBef>
          <a:spcPct val="0"/>
        </a:spcBef>
        <a:buNone/>
        <a:defRPr sz="3200" kern="120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9019" indent="-309019" algn="l" defTabSz="609570" rtl="0" eaLnBrk="1" latinLnBrk="0" hangingPunct="1">
        <a:spcBef>
          <a:spcPts val="533"/>
        </a:spcBef>
        <a:spcAft>
          <a:spcPts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376748" algn="l" defTabSz="609570" rtl="0" eaLnBrk="1" latinLnBrk="0" hangingPunct="1">
        <a:spcBef>
          <a:spcPts val="533"/>
        </a:spcBef>
        <a:buFont typeface="Arial"/>
        <a:buChar char="–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8588" indent="-232822" algn="l" defTabSz="609570" rtl="0" eaLnBrk="1" latinLnBrk="0" hangingPunct="1">
        <a:spcBef>
          <a:spcPts val="533"/>
        </a:spcBef>
        <a:buFont typeface="Arial"/>
        <a:buChar char="•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295336" indent="-376748" algn="l" defTabSz="609570" rtl="0" eaLnBrk="1" latinLnBrk="0" hangingPunct="1">
        <a:spcBef>
          <a:spcPts val="533"/>
        </a:spcBef>
        <a:buFont typeface="Arial"/>
        <a:buChar char="–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604353" indent="-309019" algn="l" defTabSz="609570" rtl="0" eaLnBrk="1" latinLnBrk="0" hangingPunct="1">
        <a:spcBef>
          <a:spcPts val="533"/>
        </a:spcBef>
        <a:buFont typeface="Arial"/>
        <a:buChar char="»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0" y="5833180"/>
            <a:ext cx="10714008" cy="534077"/>
          </a:xfrm>
        </p:spPr>
        <p:txBody>
          <a:bodyPr/>
          <a:lstStyle/>
          <a:p>
            <a:r>
              <a:rPr lang="en-US" b="1" dirty="0">
                <a:solidFill>
                  <a:srgbClr val="153C9F"/>
                </a:solidFill>
              </a:rPr>
              <a:t>RAG - Production Grade Architecture (PoC)</a:t>
            </a:r>
          </a:p>
          <a:p>
            <a:endParaRPr lang="en-US" b="1" dirty="0">
              <a:solidFill>
                <a:srgbClr val="153C9F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80182" y="6367257"/>
            <a:ext cx="3887970" cy="343333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153C9F"/>
                </a:solidFill>
              </a:rPr>
              <a:t>Ramachandra – Software Architect</a:t>
            </a:r>
          </a:p>
        </p:txBody>
      </p:sp>
    </p:spTree>
    <p:extLst>
      <p:ext uri="{BB962C8B-B14F-4D97-AF65-F5344CB8AC3E}">
        <p14:creationId xmlns:p14="http://schemas.microsoft.com/office/powerpoint/2010/main" val="253641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45EED-740C-F7E6-D741-DB7F0AEC8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9495385-65BD-05E2-EB4C-3EE741B72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73F296-5D92-4A42-D93F-81F95761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1DA04D-6281-D64E-A413-D15F38A65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7E92F0-29FB-C4F9-AFE8-0F262388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7ED5C-DC03-38D1-6167-11AA65D8E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C8503-EE02-7B69-8B53-100F73EC8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0515600" cy="5282539"/>
          </a:xfrm>
        </p:spPr>
        <p:txBody>
          <a:bodyPr>
            <a:noAutofit/>
          </a:bodyPr>
          <a:lstStyle/>
          <a:p>
            <a:r>
              <a:rPr lang="en-US" sz="2000" dirty="0"/>
              <a:t>Purpose</a:t>
            </a:r>
          </a:p>
          <a:p>
            <a:r>
              <a:rPr lang="en-US" sz="2000" dirty="0"/>
              <a:t>Problem Statement</a:t>
            </a:r>
          </a:p>
          <a:p>
            <a:r>
              <a:rPr lang="en-US" sz="2000" dirty="0"/>
              <a:t>Solution</a:t>
            </a:r>
          </a:p>
          <a:p>
            <a:r>
              <a:rPr lang="en-US" sz="2000" dirty="0"/>
              <a:t>RAG High-Level Architecture – PoC</a:t>
            </a:r>
          </a:p>
          <a:p>
            <a:r>
              <a:rPr lang="en-US" sz="2000" dirty="0"/>
              <a:t>Why This Architecture Is Strong</a:t>
            </a:r>
          </a:p>
          <a:p>
            <a:r>
              <a:rPr lang="en-US" sz="2000" dirty="0"/>
              <a:t>Component and Layer Responsibilities</a:t>
            </a:r>
          </a:p>
          <a:p>
            <a:r>
              <a:rPr lang="en-US" sz="2000" dirty="0"/>
              <a:t>Replaceability &amp; Evolution</a:t>
            </a:r>
          </a:p>
          <a:p>
            <a:r>
              <a:rPr lang="en-US" sz="2000" dirty="0"/>
              <a:t>Why This Architecture Is Enterprise‑Ready</a:t>
            </a:r>
          </a:p>
          <a:p>
            <a:r>
              <a:rPr lang="en-US" sz="2000" dirty="0"/>
              <a:t>PoC– Software Stack</a:t>
            </a:r>
          </a:p>
          <a:p>
            <a:r>
              <a:rPr lang="en-US" sz="2000" dirty="0"/>
              <a:t>Demo</a:t>
            </a:r>
          </a:p>
          <a:p>
            <a:r>
              <a:rPr lang="en-US" sz="2000" dirty="0"/>
              <a:t>Key Achievements</a:t>
            </a:r>
          </a:p>
          <a:p>
            <a:r>
              <a:rPr lang="en-US" sz="2000" dirty="0"/>
              <a:t>Recap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395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0B2E0-6040-9980-D8C0-663E40B3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Purpose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66F44-CD40-8054-3543-0C1FECF39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39"/>
          </a:xfrm>
        </p:spPr>
        <p:txBody>
          <a:bodyPr>
            <a:noAutofit/>
          </a:bodyPr>
          <a:lstStyle/>
          <a:p>
            <a:r>
              <a:rPr lang="en-US" sz="2000" dirty="0"/>
              <a:t>This Proof of Concept demonstrates:</a:t>
            </a:r>
          </a:p>
          <a:p>
            <a:endParaRPr lang="en-US" sz="2000" dirty="0"/>
          </a:p>
          <a:p>
            <a:r>
              <a:rPr lang="en-US" sz="2000" dirty="0"/>
              <a:t>How </a:t>
            </a:r>
            <a:r>
              <a:rPr lang="en-US" sz="2000" b="1" dirty="0"/>
              <a:t>Large Language Models </a:t>
            </a:r>
            <a:r>
              <a:rPr lang="en-US" sz="2000" dirty="0"/>
              <a:t>(LLMs) can be grounded using </a:t>
            </a:r>
            <a:r>
              <a:rPr lang="en-US" sz="2000" b="1" dirty="0"/>
              <a:t>enterprise or private data</a:t>
            </a:r>
          </a:p>
          <a:p>
            <a:r>
              <a:rPr lang="en-US" sz="2000" dirty="0"/>
              <a:t>A </a:t>
            </a:r>
            <a:r>
              <a:rPr lang="en-US" sz="2000" b="1" dirty="0"/>
              <a:t>clean separation of concerns</a:t>
            </a:r>
            <a:r>
              <a:rPr lang="en-US" sz="2000" dirty="0"/>
              <a:t> across API, retrieval, and generation layers</a:t>
            </a:r>
          </a:p>
          <a:p>
            <a:r>
              <a:rPr lang="en-US" sz="2000" dirty="0"/>
              <a:t>A </a:t>
            </a:r>
            <a:r>
              <a:rPr lang="en-US" sz="2000" b="1" dirty="0"/>
              <a:t>model‑agnostic and storage‑agnostic</a:t>
            </a:r>
            <a:r>
              <a:rPr lang="en-US" sz="2000" dirty="0"/>
              <a:t> RAG architecture suitable for future production evolution</a:t>
            </a:r>
          </a:p>
        </p:txBody>
      </p:sp>
    </p:spTree>
    <p:extLst>
      <p:ext uri="{BB962C8B-B14F-4D97-AF65-F5344CB8AC3E}">
        <p14:creationId xmlns:p14="http://schemas.microsoft.com/office/powerpoint/2010/main" val="28681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764AA-83B1-648A-7CDF-DE1F5095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CAC1A39-AC8B-7EEF-619F-718C0019D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1AD189-7413-DCCC-FBB4-EF5D2F9A5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413338-E046-2963-2C54-AA08DC93A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36FC7D-926C-BAC6-EBAA-9F8481A22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CC9AB-A7F0-67A1-687B-4740E728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20738-8332-6952-1DC7-16FCFBEBF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39"/>
          </a:xfrm>
        </p:spPr>
        <p:txBody>
          <a:bodyPr>
            <a:noAutofit/>
          </a:bodyPr>
          <a:lstStyle/>
          <a:p>
            <a:r>
              <a:rPr lang="en-US" sz="2000" dirty="0"/>
              <a:t>Challenges with LLMs</a:t>
            </a:r>
          </a:p>
          <a:p>
            <a:endParaRPr lang="en-US" sz="2000" dirty="0"/>
          </a:p>
          <a:p>
            <a:r>
              <a:rPr lang="en-US" sz="2000" dirty="0"/>
              <a:t>LLMs are trained on general, public data </a:t>
            </a:r>
          </a:p>
          <a:p>
            <a:r>
              <a:rPr lang="en-US" sz="2000" dirty="0"/>
              <a:t>They </a:t>
            </a:r>
            <a:r>
              <a:rPr lang="en-US" sz="2000" b="1" dirty="0"/>
              <a:t>cannot access proprietary or domain‑specific content</a:t>
            </a:r>
          </a:p>
          <a:p>
            <a:r>
              <a:rPr lang="en-US" sz="2000" dirty="0"/>
              <a:t>They may </a:t>
            </a:r>
            <a:r>
              <a:rPr lang="en-US" sz="2000" b="1" dirty="0"/>
              <a:t>hallucinate</a:t>
            </a:r>
            <a:r>
              <a:rPr lang="en-US" sz="2000" dirty="0"/>
              <a:t> when answering factual questions outside their training data</a:t>
            </a:r>
          </a:p>
          <a:p>
            <a:r>
              <a:rPr lang="en-US" sz="2000" dirty="0"/>
              <a:t>They provide </a:t>
            </a:r>
            <a:r>
              <a:rPr lang="en-US" sz="2000" b="1" dirty="0"/>
              <a:t>no inherent guarantees of grounding, traceability, or source attribution</a:t>
            </a:r>
          </a:p>
          <a:p>
            <a:endParaRPr lang="en-US" sz="2000" dirty="0"/>
          </a:p>
          <a:p>
            <a:r>
              <a:rPr lang="en-US" sz="2000" b="1" dirty="0"/>
              <a:t>Solution: Retrieval‑Augmented Generation (RAG)</a:t>
            </a:r>
          </a:p>
          <a:p>
            <a:r>
              <a:rPr lang="en-US" sz="2000" dirty="0"/>
              <a:t>RAG addresses these challenges by:</a:t>
            </a:r>
          </a:p>
          <a:p>
            <a:pPr lvl="1"/>
            <a:r>
              <a:rPr lang="en-US" sz="2000" dirty="0"/>
              <a:t>Retrieving </a:t>
            </a:r>
            <a:r>
              <a:rPr lang="en-US" sz="2000" b="1" dirty="0"/>
              <a:t>relevant knowledge at query time</a:t>
            </a:r>
          </a:p>
          <a:p>
            <a:pPr lvl="1"/>
            <a:r>
              <a:rPr lang="en-US" sz="2000" dirty="0"/>
              <a:t>Injecting that knowledge into the </a:t>
            </a:r>
            <a:r>
              <a:rPr lang="en-US" sz="2000" b="1" dirty="0"/>
              <a:t>LLM prompt</a:t>
            </a:r>
          </a:p>
          <a:p>
            <a:pPr lvl="1"/>
            <a:r>
              <a:rPr lang="en-US" sz="2000" dirty="0"/>
              <a:t>Generating responses grounded in </a:t>
            </a:r>
            <a:r>
              <a:rPr lang="en-US" sz="2000" b="1" dirty="0"/>
              <a:t>real, verifiable data</a:t>
            </a:r>
          </a:p>
        </p:txBody>
      </p:sp>
    </p:spTree>
    <p:extLst>
      <p:ext uri="{BB962C8B-B14F-4D97-AF65-F5344CB8AC3E}">
        <p14:creationId xmlns:p14="http://schemas.microsoft.com/office/powerpoint/2010/main" val="195932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45DF2-7E3B-6A46-60EA-45374169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B2286F8-6F7E-022B-0069-82D9F5758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495CFC-865E-BC32-2DC4-DD249FA72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1A02D9-7056-5151-C1BF-61842E1B0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95365B-5579-A128-1D2F-9F730F824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7A1D6-5394-DCF3-C585-82050FE3F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279AC-545A-F092-C310-479BCEB12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Solution: Retrieval‑Augmented Generation (RAG)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RAG addresses these challenges by:</a:t>
            </a:r>
          </a:p>
          <a:p>
            <a:pPr lvl="1"/>
            <a:r>
              <a:rPr lang="en-US" sz="2000" dirty="0"/>
              <a:t>Retrieving </a:t>
            </a:r>
            <a:r>
              <a:rPr lang="en-US" sz="2000" b="1" dirty="0"/>
              <a:t>relevant knowledge at query time</a:t>
            </a:r>
          </a:p>
          <a:p>
            <a:pPr lvl="1"/>
            <a:r>
              <a:rPr lang="en-US" sz="2000" dirty="0"/>
              <a:t>Injecting that knowledge into the </a:t>
            </a:r>
            <a:r>
              <a:rPr lang="en-US" sz="2000" b="1" dirty="0"/>
              <a:t>LLM prompt</a:t>
            </a:r>
          </a:p>
          <a:p>
            <a:pPr lvl="1"/>
            <a:r>
              <a:rPr lang="en-US" sz="2000" dirty="0"/>
              <a:t>Generating responses grounded in </a:t>
            </a:r>
            <a:r>
              <a:rPr lang="en-US" sz="2000" b="1" dirty="0"/>
              <a:t>real, verifiable data</a:t>
            </a:r>
          </a:p>
          <a:p>
            <a:pPr lvl="1"/>
            <a:endParaRPr lang="en-US" sz="2000" b="1" dirty="0"/>
          </a:p>
          <a:p>
            <a:r>
              <a:rPr lang="en-US" sz="2000" dirty="0"/>
              <a:t>Result:</a:t>
            </a:r>
          </a:p>
          <a:p>
            <a:pPr lvl="1"/>
            <a:r>
              <a:rPr lang="en-US" sz="2000" dirty="0"/>
              <a:t>Accurate, explainable, and enterprise‑ready GenAI responses</a:t>
            </a:r>
          </a:p>
        </p:txBody>
      </p:sp>
    </p:spTree>
    <p:extLst>
      <p:ext uri="{BB962C8B-B14F-4D97-AF65-F5344CB8AC3E}">
        <p14:creationId xmlns:p14="http://schemas.microsoft.com/office/powerpoint/2010/main" val="111207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69FF2-242C-67F0-5E8A-F7FAF042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169112B-B5D0-6306-82DA-CB5360EB0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614F9-91A7-CD49-8AC0-19CAAA1D8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38E970-975D-644B-F465-221D5BB3F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26E5D7-AEBE-A640-BF33-5BF347B71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9ABA1-84F9-54F5-B928-DF7D86E9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RAG High-Level Architecture (PoC)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F6056-BCB3-B60F-8A55-78198930FBEA}"/>
              </a:ext>
            </a:extLst>
          </p:cNvPr>
          <p:cNvSpPr txBox="1"/>
          <p:nvPr/>
        </p:nvSpPr>
        <p:spPr>
          <a:xfrm>
            <a:off x="0" y="1582579"/>
            <a:ext cx="673607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PoC currently focuses 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Document-based question answering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Contextual response generation using enterprise content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Modular and cloud-ready architecture design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Model-agnostic and data-source-agnostic approach</a:t>
            </a:r>
          </a:p>
          <a:p>
            <a:endParaRPr lang="en-US" b="1" dirty="0"/>
          </a:p>
          <a:p>
            <a:r>
              <a:rPr lang="en-US" b="1" dirty="0"/>
              <a:t>Conceptual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sends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Enterprise API routes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RAG layer orchestrates retrieval and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responds with grounded answer</a:t>
            </a:r>
          </a:p>
          <a:p>
            <a:endParaRPr lang="en-US" dirty="0"/>
          </a:p>
          <a:p>
            <a:r>
              <a:rPr lang="en-US" b="1" dirty="0"/>
              <a:t>Key Layers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Enterprise API Layer (Spring Boot)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RAG Orchestration Layer (</a:t>
            </a:r>
            <a:r>
              <a:rPr lang="en-US" dirty="0" err="1"/>
              <a:t>FastAPI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 Database (</a:t>
            </a:r>
            <a:r>
              <a:rPr lang="en-US" dirty="0" err="1"/>
              <a:t>Qdrant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Encoder For </a:t>
            </a:r>
            <a:r>
              <a:rPr lang="en-US" dirty="0" err="1"/>
              <a:t>Reranker</a:t>
            </a:r>
            <a:r>
              <a:rPr lang="en-US" dirty="0"/>
              <a:t> (</a:t>
            </a:r>
            <a:r>
              <a:rPr lang="en-US" dirty="0" err="1"/>
              <a:t>FastAPI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Runtime (</a:t>
            </a:r>
            <a:r>
              <a:rPr lang="en-US" dirty="0" err="1"/>
              <a:t>Ollama</a:t>
            </a:r>
            <a:r>
              <a:rPr lang="en-US" dirty="0"/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08EB7F-237A-4ADC-7066-4B53E9A55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075" y="1674674"/>
            <a:ext cx="3467584" cy="453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4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5A452-9932-294B-A0BB-52C1AE85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1189BCC-D58E-1B9A-A2AA-FD244A6E1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0DEBE7-B415-0F0F-19EE-3F2CF3212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DD330E-C498-E1EE-7419-5A66AD31B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4DC3FE-14FE-BAA2-0574-84B6E8D71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15309-12ED-6D56-64DE-48071D88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RAG High-Level Architecture (PoC) Contd..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06B9A5C-97D6-0868-76F2-097585AC2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" y="1924821"/>
            <a:ext cx="12121825" cy="4933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618C8E-E4B8-62FA-C992-2CBD53370C7F}"/>
              </a:ext>
            </a:extLst>
          </p:cNvPr>
          <p:cNvSpPr txBox="1"/>
          <p:nvPr/>
        </p:nvSpPr>
        <p:spPr>
          <a:xfrm>
            <a:off x="-2" y="1565968"/>
            <a:ext cx="3234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Sequence: Client to RAG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29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8B8E5-9B12-AB46-D4EA-54698685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E288A93-1C14-776E-93A8-96D240101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90EA9E-5F2B-CBEB-5AFB-35C55128A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CD102D-33E9-91F8-7762-9C79329AA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3AC786-03A6-E567-BE10-CC404F8CA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A1AA2-85A4-2E75-9E18-2C81C1B89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Architectural Principles (PoC) Contd..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82992-1D8C-ACC0-2E12-8FF863DE9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0515600" cy="5155665"/>
          </a:xfrm>
        </p:spPr>
        <p:txBody>
          <a:bodyPr>
            <a:noAutofit/>
          </a:bodyPr>
          <a:lstStyle/>
          <a:p>
            <a:r>
              <a:rPr lang="en-US" sz="2000" dirty="0"/>
              <a:t>Separation of Concerns</a:t>
            </a:r>
          </a:p>
          <a:p>
            <a:pPr lvl="1"/>
            <a:r>
              <a:rPr lang="en-US" sz="2000" dirty="0"/>
              <a:t>Enterprise API logic is isolated from AI logic</a:t>
            </a:r>
          </a:p>
          <a:p>
            <a:pPr lvl="1"/>
            <a:r>
              <a:rPr lang="en-US" sz="2000" dirty="0"/>
              <a:t>API, retrieval, and generation responsibilities are isolated</a:t>
            </a:r>
          </a:p>
          <a:p>
            <a:pPr lvl="1"/>
            <a:endParaRPr lang="en-US" sz="2000" dirty="0"/>
          </a:p>
          <a:p>
            <a:r>
              <a:rPr lang="en-US" sz="2000" dirty="0"/>
              <a:t>Pluggability</a:t>
            </a:r>
          </a:p>
          <a:p>
            <a:pPr lvl="1"/>
            <a:r>
              <a:rPr lang="en-US" sz="2000" dirty="0"/>
              <a:t>Each component can be swapped without redesigning the system</a:t>
            </a:r>
          </a:p>
          <a:p>
            <a:pPr lvl="1"/>
            <a:r>
              <a:rPr lang="en-US" sz="2000" dirty="0" err="1"/>
              <a:t>FastAPI</a:t>
            </a:r>
            <a:r>
              <a:rPr lang="en-US" sz="2000" dirty="0"/>
              <a:t>, LLMs, Vector DB, and Frameworks can be replaced</a:t>
            </a:r>
          </a:p>
          <a:p>
            <a:pPr lvl="1"/>
            <a:endParaRPr lang="en-US" sz="2000" dirty="0"/>
          </a:p>
          <a:p>
            <a:r>
              <a:rPr lang="en-US" sz="2000" dirty="0"/>
              <a:t>Technology Alignment</a:t>
            </a:r>
          </a:p>
          <a:p>
            <a:pPr lvl="1"/>
            <a:r>
              <a:rPr lang="en-US" sz="2000" dirty="0"/>
              <a:t>Java (Spring Boot) for enterprise integration</a:t>
            </a:r>
          </a:p>
          <a:p>
            <a:pPr lvl="1"/>
            <a:r>
              <a:rPr lang="en-US" sz="2000" dirty="0"/>
              <a:t>Python (</a:t>
            </a:r>
            <a:r>
              <a:rPr lang="en-US" sz="2000" dirty="0" err="1"/>
              <a:t>FastAPI</a:t>
            </a:r>
            <a:r>
              <a:rPr lang="en-US" sz="2000" dirty="0"/>
              <a:t>) for AI &amp; RAG workflows</a:t>
            </a:r>
          </a:p>
          <a:p>
            <a:pPr lvl="1"/>
            <a:endParaRPr lang="en-US" sz="2000" dirty="0"/>
          </a:p>
          <a:p>
            <a:r>
              <a:rPr lang="en-US" sz="2000" dirty="0"/>
              <a:t>PoC Simplicity</a:t>
            </a:r>
          </a:p>
          <a:p>
            <a:pPr lvl="1"/>
            <a:r>
              <a:rPr lang="en-US" sz="2000" dirty="0"/>
              <a:t>Focus on core RAG mechanics; non-essential concerns are deferred</a:t>
            </a:r>
          </a:p>
        </p:txBody>
      </p:sp>
    </p:spTree>
    <p:extLst>
      <p:ext uri="{BB962C8B-B14F-4D97-AF65-F5344CB8AC3E}">
        <p14:creationId xmlns:p14="http://schemas.microsoft.com/office/powerpoint/2010/main" val="161194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6360B-5C54-0D1B-DA45-7064DF78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2CC80F4-5A7E-14B7-6323-5F376005C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A2EEA6-B8CF-A8EA-A194-CD5667D19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44BBCB-FAB3-35CB-D691-F27FE51E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9E2DD0-3A93-3FB4-BF7A-8883B25C3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3987E-06B6-7DF9-F94B-C732825C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Why This Architecture Is Strong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2B8D4-B1A1-8E36-08FC-504B5C25B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0515600" cy="51556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Clean Separation of Concerns</a:t>
            </a:r>
          </a:p>
          <a:p>
            <a:r>
              <a:rPr lang="en-US" sz="2000" dirty="0"/>
              <a:t>Spring Boot = Public APIs, Streaming, Security, Embeddings and Prompts</a:t>
            </a:r>
          </a:p>
          <a:p>
            <a:r>
              <a:rPr lang="en-US" sz="2000" dirty="0" err="1"/>
              <a:t>FastAPI</a:t>
            </a:r>
            <a:r>
              <a:rPr lang="en-US" sz="2000" dirty="0"/>
              <a:t> = RAG orchestration</a:t>
            </a:r>
          </a:p>
          <a:p>
            <a:r>
              <a:rPr lang="en-US" sz="2000" dirty="0" err="1"/>
              <a:t>Qdrant</a:t>
            </a:r>
            <a:r>
              <a:rPr lang="en-US" sz="2000" dirty="0"/>
              <a:t> = Vector storage &amp; search</a:t>
            </a:r>
          </a:p>
          <a:p>
            <a:r>
              <a:rPr lang="en-US" sz="2000" dirty="0" err="1"/>
              <a:t>Ollama</a:t>
            </a:r>
            <a:r>
              <a:rPr lang="en-US" sz="2000" dirty="0"/>
              <a:t> = LLM inference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Technology Decoupling</a:t>
            </a:r>
          </a:p>
          <a:p>
            <a:r>
              <a:rPr lang="en-US" sz="2000" dirty="0"/>
              <a:t>Java teams own Spring Boot</a:t>
            </a:r>
          </a:p>
          <a:p>
            <a:r>
              <a:rPr lang="en-US" sz="2000" dirty="0"/>
              <a:t>AI teams evolve </a:t>
            </a:r>
            <a:r>
              <a:rPr lang="en-US" sz="2000" dirty="0" err="1"/>
              <a:t>FastAPI</a:t>
            </a:r>
            <a:r>
              <a:rPr lang="en-US" sz="2000" dirty="0"/>
              <a:t> independently</a:t>
            </a:r>
          </a:p>
          <a:p>
            <a:r>
              <a:rPr lang="en-US" sz="2000" dirty="0"/>
              <a:t>LLMs and vector DBs are swappable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Production‑Aligned</a:t>
            </a:r>
          </a:p>
          <a:p>
            <a:r>
              <a:rPr lang="en-US" sz="2000" dirty="0"/>
              <a:t>Even as a PoC, this mirrors real enterprise GenAI deployments</a:t>
            </a:r>
          </a:p>
        </p:txBody>
      </p:sp>
    </p:spTree>
    <p:extLst>
      <p:ext uri="{BB962C8B-B14F-4D97-AF65-F5344CB8AC3E}">
        <p14:creationId xmlns:p14="http://schemas.microsoft.com/office/powerpoint/2010/main" val="311048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E0E6F-0B06-B7E7-CC70-6DB036C4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E3ED458-D000-E5AC-21D6-7624D503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D5D2A1-742A-EA50-CDBB-557057B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4DF581-CC68-B681-3427-513713ECB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A65BBE-CEFF-F059-3142-F35268132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53C7D-69DB-317A-8B95-39271F5B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Component and Layer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0EDD5-059C-EE73-AB39-264447FE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Enterprise API Layer</a:t>
            </a:r>
          </a:p>
          <a:p>
            <a:pPr marL="0" indent="0">
              <a:buNone/>
            </a:pPr>
            <a:r>
              <a:rPr lang="en-US" sz="2000" b="1" dirty="0"/>
              <a:t>Spring Boot Application – </a:t>
            </a:r>
            <a:r>
              <a:rPr lang="en-US" sz="2000" dirty="0"/>
              <a:t>Enterprise API Layer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Role: Enterprise-facing API gateway / BFF Frameworks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Responsibilities</a:t>
            </a:r>
          </a:p>
          <a:p>
            <a:pPr lvl="1"/>
            <a:r>
              <a:rPr lang="en-US" sz="1600" dirty="0"/>
              <a:t>Expose chat and query APIs</a:t>
            </a:r>
          </a:p>
          <a:p>
            <a:pPr lvl="1"/>
            <a:r>
              <a:rPr lang="en-US" sz="1600" dirty="0"/>
              <a:t>Handle authentication, authorization, and request validation</a:t>
            </a:r>
          </a:p>
          <a:p>
            <a:pPr lvl="1"/>
            <a:r>
              <a:rPr lang="en-US" sz="1600" dirty="0"/>
              <a:t>Route requests to the RAG orchestration layer</a:t>
            </a:r>
          </a:p>
          <a:p>
            <a:pPr lvl="1"/>
            <a:r>
              <a:rPr lang="en-US" sz="1600" dirty="0"/>
              <a:t>Support synchronous and streaming responses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2903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0DDEB-0EB2-1E75-7C1F-E562DDD1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2AAF9BF-4366-41CF-8CB1-DC0E6E010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33C1A-12B4-F57A-5981-77281DCCD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24D141-2F05-300C-EDD3-4281BE013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3D6E3C-2F78-EFFA-A391-68A3E934F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5AAB3-BF9E-C0EE-7B8D-FD8E7818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1109185"/>
          </a:xfrm>
        </p:spPr>
        <p:txBody>
          <a:bodyPr anchor="ctr"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Component and Layer Responsibilities 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FC261-15FD-A26D-B005-EA7ECA7C2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RAG Application Layer</a:t>
            </a:r>
          </a:p>
          <a:p>
            <a:pPr marL="0" indent="0">
              <a:buNone/>
            </a:pPr>
            <a:r>
              <a:rPr lang="en-US" sz="2000" b="1" dirty="0" err="1"/>
              <a:t>FastAPI</a:t>
            </a:r>
            <a:r>
              <a:rPr lang="en-US" sz="2000" dirty="0"/>
              <a:t> – RAG Orchestration Layer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Role: Implements RAG intelligence	</a:t>
            </a:r>
          </a:p>
          <a:p>
            <a:pPr marL="0" indent="0">
              <a:buNone/>
            </a:pPr>
            <a:r>
              <a:rPr lang="en-US" sz="2000" dirty="0"/>
              <a:t>Responsibilities:</a:t>
            </a:r>
          </a:p>
          <a:p>
            <a:pPr lvl="1"/>
            <a:r>
              <a:rPr lang="en-US" sz="2000" dirty="0"/>
              <a:t>Generate embeddings for documents and queries</a:t>
            </a:r>
          </a:p>
          <a:p>
            <a:pPr lvl="1"/>
            <a:r>
              <a:rPr lang="en-US" sz="2000" dirty="0"/>
              <a:t>Query the vector database</a:t>
            </a:r>
          </a:p>
          <a:p>
            <a:pPr lvl="1"/>
            <a:r>
              <a:rPr lang="en-US" sz="2000" dirty="0"/>
              <a:t>Construct augmented LLM prompts</a:t>
            </a:r>
          </a:p>
          <a:p>
            <a:pPr lvl="1"/>
            <a:r>
              <a:rPr lang="en-US" sz="2000" dirty="0"/>
              <a:t>Invoke the LLM runtime</a:t>
            </a:r>
          </a:p>
          <a:p>
            <a:pPr lvl="1"/>
            <a:r>
              <a:rPr lang="en-US" sz="2000" dirty="0"/>
              <a:t>Format and return results</a:t>
            </a:r>
          </a:p>
          <a:p>
            <a:r>
              <a:rPr lang="en-US" sz="2000" dirty="0"/>
              <a:t>Key Characteristics:</a:t>
            </a:r>
          </a:p>
          <a:p>
            <a:pPr lvl="1"/>
            <a:r>
              <a:rPr lang="en-US" sz="2000" dirty="0"/>
              <a:t>Framework‑agnostic</a:t>
            </a:r>
          </a:p>
          <a:p>
            <a:pPr lvl="1"/>
            <a:r>
              <a:rPr lang="en-US" sz="2000" dirty="0"/>
              <a:t>Replaceable and independently testable</a:t>
            </a:r>
          </a:p>
          <a:p>
            <a:pPr lvl="1"/>
            <a:r>
              <a:rPr lang="en-US" sz="2000" dirty="0"/>
              <a:t>Focused solely on RAG logic</a:t>
            </a:r>
          </a:p>
        </p:txBody>
      </p:sp>
    </p:spTree>
    <p:extLst>
      <p:ext uri="{BB962C8B-B14F-4D97-AF65-F5344CB8AC3E}">
        <p14:creationId xmlns:p14="http://schemas.microsoft.com/office/powerpoint/2010/main" val="173516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42874-7516-00FA-8864-D9866B0E6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6874442-9454-7468-9377-54FEA1D8B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390FD5-616A-0C02-866E-CF4395FA9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5A1D0A-B5F0-7AD4-63C9-3860AA02C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027789-2424-2B4A-2204-F576EA84C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BD667-7299-2208-41A9-6ACEC83E7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1126438"/>
          </a:xfrm>
        </p:spPr>
        <p:txBody>
          <a:bodyPr anchor="ctr"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Component and Layer Responsibilities 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9A85C-602A-504F-2EDB-8441E0BAE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Vector Database Layer </a:t>
            </a:r>
          </a:p>
          <a:p>
            <a:pPr marL="0" indent="0">
              <a:buNone/>
            </a:pPr>
            <a:r>
              <a:rPr lang="en-US" sz="2000" dirty="0" err="1"/>
              <a:t>Qdrant</a:t>
            </a:r>
            <a:r>
              <a:rPr lang="en-US" sz="2000" dirty="0"/>
              <a:t> – Vector Database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Role: Retrieval component (R in RAG)</a:t>
            </a:r>
          </a:p>
          <a:p>
            <a:pPr marL="0" indent="0">
              <a:buNone/>
            </a:pPr>
            <a:r>
              <a:rPr lang="en-US" sz="2000" dirty="0"/>
              <a:t>Responsibilities</a:t>
            </a:r>
          </a:p>
          <a:p>
            <a:pPr lvl="1"/>
            <a:r>
              <a:rPr lang="en-US" sz="1600" dirty="0"/>
              <a:t>Store vector embeddings</a:t>
            </a:r>
          </a:p>
          <a:p>
            <a:pPr lvl="1"/>
            <a:r>
              <a:rPr lang="en-US" sz="1600" dirty="0"/>
              <a:t>Perform similarity search (Top‑K retrieval)</a:t>
            </a:r>
          </a:p>
          <a:p>
            <a:pPr lvl="1"/>
            <a:r>
              <a:rPr lang="en-US" sz="1600" dirty="0"/>
              <a:t>Return relevant document content and metadata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Not Responsible For:</a:t>
            </a:r>
          </a:p>
          <a:p>
            <a:pPr lvl="1"/>
            <a:r>
              <a:rPr lang="en-US" sz="1600" dirty="0"/>
              <a:t>Embedding generation</a:t>
            </a:r>
          </a:p>
          <a:p>
            <a:pPr lvl="1"/>
            <a:r>
              <a:rPr lang="en-US" sz="1600" dirty="0"/>
              <a:t>Prompt engineering</a:t>
            </a:r>
          </a:p>
          <a:p>
            <a:pPr lvl="1"/>
            <a:r>
              <a:rPr lang="en-US" sz="1600" dirty="0"/>
              <a:t>LLM reasoning or inference</a:t>
            </a:r>
          </a:p>
        </p:txBody>
      </p:sp>
    </p:spTree>
    <p:extLst>
      <p:ext uri="{BB962C8B-B14F-4D97-AF65-F5344CB8AC3E}">
        <p14:creationId xmlns:p14="http://schemas.microsoft.com/office/powerpoint/2010/main" val="2494849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D997B-E8A4-06D9-5FAF-161E2CC1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BF1B730-72FB-572E-6BB8-EDDBA74F5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47A9DD-BCF1-4F87-64DF-705479CF9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639AB2-09CB-20C2-70C5-051E62CF9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B945BD-4D39-07CF-14D5-4DFB5F2CC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4A74D-AB84-3B80-10CB-ED4F78F5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Component &amp; Layer Responsibilities 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A0E55-BEF3-148F-F8CE-58519D4C9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LLM Runtime Layer</a:t>
            </a:r>
          </a:p>
          <a:p>
            <a:pPr marL="0" indent="0">
              <a:buNone/>
            </a:pPr>
            <a:r>
              <a:rPr lang="it-IT" sz="2000" dirty="0" err="1"/>
              <a:t>Ollama</a:t>
            </a:r>
            <a:r>
              <a:rPr lang="it-IT" sz="2000" dirty="0"/>
              <a:t> – LLM Runtime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dirty="0" err="1"/>
              <a:t>Role</a:t>
            </a:r>
            <a:r>
              <a:rPr lang="it-IT" sz="2000" dirty="0"/>
              <a:t>: Generation component (G in RAG)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en-US" sz="2000" dirty="0"/>
              <a:t>Responsibilities</a:t>
            </a:r>
          </a:p>
          <a:p>
            <a:pPr lvl="1"/>
            <a:r>
              <a:rPr lang="en-US" sz="1600" dirty="0"/>
              <a:t>Host and run LLMs locally</a:t>
            </a:r>
          </a:p>
          <a:p>
            <a:pPr lvl="1"/>
            <a:r>
              <a:rPr lang="en-US" sz="1600" dirty="0"/>
              <a:t>Generate responses from augmented prompts</a:t>
            </a:r>
          </a:p>
          <a:p>
            <a:pPr lvl="1"/>
            <a:r>
              <a:rPr lang="en-US" sz="1600" dirty="0"/>
              <a:t>Support streaming and non‑streaming inference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Not Responsible For</a:t>
            </a:r>
          </a:p>
          <a:p>
            <a:pPr lvl="1"/>
            <a:r>
              <a:rPr lang="en-US" sz="1600" dirty="0"/>
              <a:t>Retrieval</a:t>
            </a:r>
          </a:p>
          <a:p>
            <a:pPr lvl="1"/>
            <a:r>
              <a:rPr lang="en-US" sz="1600" dirty="0"/>
              <a:t>Context curation</a:t>
            </a:r>
          </a:p>
          <a:p>
            <a:pPr lvl="1"/>
            <a:r>
              <a:rPr lang="en-US" sz="1600" dirty="0"/>
              <a:t>API orchestration</a:t>
            </a:r>
          </a:p>
        </p:txBody>
      </p:sp>
    </p:spTree>
    <p:extLst>
      <p:ext uri="{BB962C8B-B14F-4D97-AF65-F5344CB8AC3E}">
        <p14:creationId xmlns:p14="http://schemas.microsoft.com/office/powerpoint/2010/main" val="3730066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2625D-02D1-8161-3AA8-D9E672A33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234EA07-B948-6743-FFF8-1130706CF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F6A91E-4108-6146-2680-AF049180B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1E28B2-6AAB-1097-36E2-C6941008D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064816-4E66-D9E7-530E-0665180E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836E0-B7A9-8DEC-ABE7-E515613C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Replaceability &amp; Evolution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4B196D0-519D-7F9B-E5D6-6737D935AC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569410"/>
              </p:ext>
            </p:extLst>
          </p:nvPr>
        </p:nvGraphicFramePr>
        <p:xfrm>
          <a:off x="-1" y="1639019"/>
          <a:ext cx="12192000" cy="521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4529">
                  <a:extLst>
                    <a:ext uri="{9D8B030D-6E8A-4147-A177-3AD203B41FA5}">
                      <a16:colId xmlns:a16="http://schemas.microsoft.com/office/drawing/2014/main" val="806395689"/>
                    </a:ext>
                  </a:extLst>
                </a:gridCol>
                <a:gridCol w="7447471">
                  <a:extLst>
                    <a:ext uri="{9D8B030D-6E8A-4147-A177-3AD203B41FA5}">
                      <a16:colId xmlns:a16="http://schemas.microsoft.com/office/drawing/2014/main" val="1675485585"/>
                    </a:ext>
                  </a:extLst>
                </a:gridCol>
              </a:tblGrid>
              <a:tr h="869830">
                <a:tc>
                  <a:txBody>
                    <a:bodyPr/>
                    <a:lstStyle/>
                    <a:p>
                      <a:r>
                        <a:rPr lang="en-US" b="1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Replaced With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703967"/>
                  </a:ext>
                </a:extLst>
              </a:tr>
              <a:tr h="869830">
                <a:tc>
                  <a:txBody>
                    <a:bodyPr/>
                    <a:lstStyle/>
                    <a:p>
                      <a:r>
                        <a:rPr lang="en-US" dirty="0"/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Gateway, BFF Frameworks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346017"/>
                  </a:ext>
                </a:extLst>
              </a:tr>
              <a:tr h="869830">
                <a:tc>
                  <a:txBody>
                    <a:bodyPr/>
                    <a:lstStyle/>
                    <a:p>
                      <a:r>
                        <a:rPr lang="en-US" dirty="0" err="1"/>
                        <a:t>FastAPI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Flask, </a:t>
                      </a:r>
                      <a:r>
                        <a:rPr lang="en-US" dirty="0" err="1"/>
                        <a:t>gRPC</a:t>
                      </a:r>
                      <a:r>
                        <a:rPr lang="en-US" dirty="0"/>
                        <a:t>, Serverless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327299"/>
                  </a:ext>
                </a:extLst>
              </a:tr>
              <a:tr h="869830">
                <a:tc>
                  <a:txBody>
                    <a:bodyPr/>
                    <a:lstStyle/>
                    <a:p>
                      <a:r>
                        <a:rPr lang="en-US" dirty="0" err="1"/>
                        <a:t>Qdrant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PostgreSQL + </a:t>
                      </a:r>
                      <a:r>
                        <a:rPr lang="en-US" dirty="0" err="1"/>
                        <a:t>pgvector</a:t>
                      </a:r>
                      <a:r>
                        <a:rPr lang="en-US" dirty="0"/>
                        <a:t>, Pinecone, Weaviate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33394"/>
                  </a:ext>
                </a:extLst>
              </a:tr>
              <a:tr h="869830">
                <a:tc>
                  <a:txBody>
                    <a:bodyPr/>
                    <a:lstStyle/>
                    <a:p>
                      <a:r>
                        <a:rPr lang="en-US" dirty="0" err="1"/>
                        <a:t>Ollama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OpenAI, Azure OpenAI, </a:t>
                      </a:r>
                      <a:r>
                        <a:rPr lang="en-US" dirty="0" err="1"/>
                        <a:t>vLLM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730562"/>
                  </a:ext>
                </a:extLst>
              </a:tr>
              <a:tr h="869830">
                <a:tc>
                  <a:txBody>
                    <a:bodyPr/>
                    <a:lstStyle/>
                    <a:p>
                      <a:r>
                        <a:rPr lang="en-US" dirty="0"/>
                        <a:t>Embedding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compatible embedding provider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179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14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9347B-A1C5-21C8-22BB-3533393B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3C8E519-147D-88BD-ACA5-C58C7B0A0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C9DFE7-FAC4-3CFE-0D8C-D6E1366CA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727611-3308-D8F4-6971-0F3250F6F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83A9E8-FB6B-2637-FF14-1ACB04F4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FD4CC-1968-0497-DA8B-9AC2B96ED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Why This Architecture Is Enterprise‑Ready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A40481-4DAC-44FF-9877-C35DDF563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6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Aligns with enterprise Java ecosystems</a:t>
            </a:r>
          </a:p>
          <a:p>
            <a:r>
              <a:rPr lang="en-US" sz="2000" dirty="0"/>
              <a:t>Clean isolation of AI and platform concerns</a:t>
            </a:r>
          </a:p>
          <a:p>
            <a:r>
              <a:rPr lang="en-US" sz="2000" dirty="0"/>
              <a:t>Supports both streaming and synchronous use cases</a:t>
            </a:r>
          </a:p>
          <a:p>
            <a:r>
              <a:rPr lang="en-US" sz="2000" dirty="0"/>
              <a:t>Enables independent scaling of API, retrieval, and inference layers</a:t>
            </a:r>
          </a:p>
          <a:p>
            <a:r>
              <a:rPr lang="en-US" sz="2000" dirty="0"/>
              <a:t>Closely mirrors real‑world GenAI platform architectures</a:t>
            </a:r>
          </a:p>
        </p:txBody>
      </p:sp>
    </p:spTree>
    <p:extLst>
      <p:ext uri="{BB962C8B-B14F-4D97-AF65-F5344CB8AC3E}">
        <p14:creationId xmlns:p14="http://schemas.microsoft.com/office/powerpoint/2010/main" val="816204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F03E0-5ED5-9E24-6CA5-685A64FD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D43B878-5B1F-1AB6-DCC8-A15B8AA33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A1926D-5017-3EFF-9085-BF9B2BE2D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19967C-4CB5-DE1C-5731-BECCEA9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CBA780-06F6-ED1D-EEA8-9E3B78E8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47DF5-7FBB-E0E5-DA9E-40010BF1E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 – Software Stack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AA1F9D-3069-FCBD-67F5-D7A75588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/>
              <a:t>Core Technologies</a:t>
            </a:r>
          </a:p>
          <a:p>
            <a:pPr lvl="1"/>
            <a:r>
              <a:rPr lang="en-US" sz="2000" dirty="0"/>
              <a:t>Spring Boot</a:t>
            </a:r>
          </a:p>
          <a:p>
            <a:pPr lvl="1"/>
            <a:r>
              <a:rPr lang="en-US" sz="2000" dirty="0" err="1"/>
              <a:t>FastAPI</a:t>
            </a:r>
            <a:endParaRPr lang="en-US" sz="2000" dirty="0"/>
          </a:p>
          <a:p>
            <a:pPr lvl="1"/>
            <a:r>
              <a:rPr lang="en-US" sz="2000" dirty="0" err="1"/>
              <a:t>Qdrant</a:t>
            </a:r>
            <a:endParaRPr lang="en-US" sz="2000" dirty="0"/>
          </a:p>
          <a:p>
            <a:pPr lvl="1"/>
            <a:r>
              <a:rPr lang="en-US" sz="2000" dirty="0"/>
              <a:t>Cross Encoder </a:t>
            </a:r>
            <a:r>
              <a:rPr lang="en-US" sz="2000" dirty="0" err="1"/>
              <a:t>Reranker</a:t>
            </a:r>
            <a:endParaRPr lang="en-US" sz="2000" dirty="0"/>
          </a:p>
          <a:p>
            <a:pPr lvl="1"/>
            <a:r>
              <a:rPr lang="en-US" sz="2000" dirty="0" err="1"/>
              <a:t>Ollama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Testing &amp; Validation</a:t>
            </a:r>
          </a:p>
          <a:p>
            <a:pPr lvl="1"/>
            <a:r>
              <a:rPr lang="en-US" sz="2000" dirty="0"/>
              <a:t>Postman</a:t>
            </a:r>
          </a:p>
        </p:txBody>
      </p:sp>
    </p:spTree>
    <p:extLst>
      <p:ext uri="{BB962C8B-B14F-4D97-AF65-F5344CB8AC3E}">
        <p14:creationId xmlns:p14="http://schemas.microsoft.com/office/powerpoint/2010/main" val="186203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416EE-15B9-6D1B-40AD-D5A4D70B4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6E45AC-E0C9-F793-7819-F804A6997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C44D1C-C886-4575-C894-FB386EA0F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304E61-DD1C-DB7B-ED1D-830BFDFC7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39A4C9-3C55-141C-1EE6-EDE73A608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44C6C-6A3C-A984-8475-937F6237B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PoC– </a:t>
            </a:r>
            <a:r>
              <a:rPr lang="en-US" sz="4000" b="1" dirty="0" err="1">
                <a:solidFill>
                  <a:schemeClr val="bg1"/>
                </a:solidFill>
              </a:rPr>
              <a:t>FastAPI</a:t>
            </a:r>
            <a:r>
              <a:rPr lang="en-US" sz="4000" b="1" dirty="0">
                <a:solidFill>
                  <a:schemeClr val="bg1"/>
                </a:solidFill>
              </a:rPr>
              <a:t> Running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67B4B6-D95A-0A0C-A916-B89AB97C3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 err="1"/>
              <a:t>FastAPI</a:t>
            </a:r>
            <a:r>
              <a:rPr lang="en-US" sz="2000" dirty="0"/>
              <a:t> is running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F5CBD2B-2BCA-6C22-C335-23CD923BE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1381"/>
            <a:ext cx="12191996" cy="486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72A2B-592D-C86E-681D-2BB3EBE1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30D1487-E2F7-D6C4-D557-6E95CB906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8ACE7C-78C2-F2CC-5D9A-9F1638790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87F398-83E8-3555-BDE5-AD17F81F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5C76EC-17B8-0D56-2415-71A9CEA1E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63CBC-7DBD-1725-B81F-EB780B0E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 – </a:t>
            </a:r>
            <a:r>
              <a:rPr lang="en-US" sz="4000" b="1" dirty="0" err="1">
                <a:solidFill>
                  <a:schemeClr val="bg1"/>
                </a:solidFill>
              </a:rPr>
              <a:t>FastAPI</a:t>
            </a:r>
            <a:r>
              <a:rPr lang="en-US" sz="4000" b="1" dirty="0">
                <a:solidFill>
                  <a:schemeClr val="bg1"/>
                </a:solidFill>
              </a:rPr>
              <a:t> Swagger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1E3857-11C2-B3F1-FE18-4C19D0109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 err="1"/>
              <a:t>FastAPI</a:t>
            </a:r>
            <a:r>
              <a:rPr lang="en-US" sz="2000" dirty="0"/>
              <a:t> Swagger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38D5EA-F3E8-574C-C50D-6B71921F7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" y="2031465"/>
            <a:ext cx="12121824" cy="450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3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3541F-4B97-E41B-F78B-091BF570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7B47C26-ADB9-A599-C785-240045E4E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FFE199-4325-3DD8-8B9C-ACD6318D3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92164D-A9B7-25CA-7388-A431476A0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A2CDFA-85DC-E467-9FC9-B55B9E7B6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F352F-BFB9-0574-18AB-11DACB1C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PoC– </a:t>
            </a:r>
            <a:r>
              <a:rPr lang="en-US" sz="4000" b="1" dirty="0" err="1">
                <a:solidFill>
                  <a:schemeClr val="bg1"/>
                </a:solidFill>
              </a:rPr>
              <a:t>Qdrant</a:t>
            </a:r>
            <a:r>
              <a:rPr lang="en-US" sz="4000" b="1" dirty="0">
                <a:solidFill>
                  <a:schemeClr val="bg1"/>
                </a:solidFill>
              </a:rPr>
              <a:t> Running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64C383-32A3-2604-01D8-F146F51B0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 err="1"/>
              <a:t>Qdrant</a:t>
            </a:r>
            <a:r>
              <a:rPr lang="en-US" sz="2000" dirty="0"/>
              <a:t> is running</a:t>
            </a:r>
          </a:p>
        </p:txBody>
      </p:sp>
      <p:pic>
        <p:nvPicPr>
          <p:cNvPr id="6" name="Picture 5" descr="A computer screen with white text">
            <a:extLst>
              <a:ext uri="{FF2B5EF4-FFF2-40B4-BE49-F238E27FC236}">
                <a16:creationId xmlns:a16="http://schemas.microsoft.com/office/drawing/2014/main" id="{647D0F27-7684-BC6E-8F3F-4E554EF65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5" y="1951382"/>
            <a:ext cx="12192000" cy="49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44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67617-D7C2-365D-E9E8-010427B9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2502EF9-EDE7-62B4-7605-7B671A055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2EA78E-0574-4E7D-EA33-449E855B7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FC63E2-2957-9AB6-1B60-4A74A9E96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68C5E7-58F1-83B6-4AF9-1ACEF3B3C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E6AAA-8A54-11F8-CC23-8265C038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 – Cross Encoder </a:t>
            </a:r>
            <a:r>
              <a:rPr lang="en-US" sz="4000" b="1" dirty="0" err="1">
                <a:solidFill>
                  <a:schemeClr val="bg1"/>
                </a:solidFill>
              </a:rPr>
              <a:t>Reranker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D6C048-6321-5949-8F5E-735DBC6ED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/>
              <a:t>Cross Encoder for </a:t>
            </a:r>
            <a:r>
              <a:rPr lang="en-US" sz="2000" dirty="0" err="1"/>
              <a:t>rerank</a:t>
            </a:r>
            <a:r>
              <a:rPr lang="en-US" sz="2000" dirty="0"/>
              <a:t> (</a:t>
            </a:r>
            <a:r>
              <a:rPr lang="en-US" sz="2000" dirty="0" err="1"/>
              <a:t>FastAPI</a:t>
            </a:r>
            <a:r>
              <a:rPr lang="en-US" sz="2000" dirty="0"/>
              <a:t>) is running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BDE9F-3EDE-2C17-AA50-D36BC3F89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82250"/>
            <a:ext cx="11953875" cy="487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08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9A389-60A1-BF1C-F2FA-7989D7A6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45A1794-5A8F-D744-616A-674AF8E05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66A9A8-A655-517F-7339-7BB2B3FC3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64CC3A-EC8B-3D43-8932-33C9EBFE8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2DD4-7917-DA50-CFEB-B30AB1C98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5B19F-1F9A-4058-48E7-70D10F40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 – </a:t>
            </a:r>
            <a:r>
              <a:rPr lang="en-US" sz="4000" b="1" dirty="0" err="1">
                <a:solidFill>
                  <a:schemeClr val="bg1"/>
                </a:solidFill>
              </a:rPr>
              <a:t>Ollama</a:t>
            </a:r>
            <a:r>
              <a:rPr lang="en-US" sz="4000" b="1" dirty="0">
                <a:solidFill>
                  <a:schemeClr val="bg1"/>
                </a:solidFill>
              </a:rPr>
              <a:t> Running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EB08BC-98B0-E597-68C3-4DEA1D9F1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 err="1"/>
              <a:t>Ollama</a:t>
            </a:r>
            <a:r>
              <a:rPr lang="en-US" sz="2000" dirty="0"/>
              <a:t> is running</a:t>
            </a: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6E1E167-CE35-C655-6960-57CBF66A1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1382"/>
            <a:ext cx="12192000" cy="49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20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F1802-96B4-4436-047E-2C9DA089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9C70A8B-6A10-4B2B-ECD6-A14A9A636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114B04-775D-4077-8D94-C78CE388D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48CA3A-0BF2-9EFC-1EC8-82ED44692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CBF381-B66F-8D27-F6B4-42619E997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031DA-1F20-0C9F-B804-ECD4582A1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 – Sync call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6864AA-203E-6577-27C8-305975E7C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/>
              <a:t>Sync Call from Postman – API /chat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3A79CB-38BE-1BA8-3FBE-DC0650AAC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1382"/>
            <a:ext cx="12192000" cy="475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92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87B02-8B02-3CB5-DB3D-52AE0C95B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6EB0C85-FF96-C5C4-6E5E-EEE3F689A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418263-C260-31A4-EC22-70F7476AC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83A5A1-0540-47C3-7AFF-3E2550519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37E679-3A73-ACD2-CA94-DE428CB14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6CFB4-C157-447F-658B-BC447880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 - Sync call Logs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83143A-08B7-F63A-D059-F036B2451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/>
              <a:t>Sync Call Received Spring Boot Application – API /chat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240341-2414-38D9-2CE3-7A4AC1FA6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1382"/>
            <a:ext cx="12192000" cy="475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74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E6E68-19A3-BD3B-E1AC-E18B43F6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08CCFEE-5AAA-1DA4-B418-6C48044D9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A62D44-D074-31FA-EF2F-B00798CF1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E771A-60BE-B231-85B3-474BD8747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254FFD-A65A-496B-0561-D650848E6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EE222-F17E-EFD6-4D2D-C4ED5CCC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 – Async call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D3583F-273E-D6CA-484F-6B503AE5D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/>
              <a:t>Async Call from Postman – API /</a:t>
            </a:r>
            <a:r>
              <a:rPr lang="en-US" sz="2000" dirty="0" err="1"/>
              <a:t>chatstream</a:t>
            </a:r>
            <a:endParaRPr lang="en-US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0DF724-8262-C605-918E-C7B350F22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9300"/>
            <a:ext cx="121920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741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0FF6D-0706-ED9F-DB09-D489AE6B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EE682D0-D540-99AB-34E9-7DB46C546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2BD19B-BBEB-6E67-8C9D-6A2DD9EBC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9A5C6F-3919-DB0B-DCA1-E71B62502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CF12F2-9742-9172-0773-016570241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756C2-4C9E-2036-E270-D7A45F4B5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PoC – Async call Logs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58F182-5F47-B04C-5F14-43909406D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/>
              <a:t>Async Call Received Spring Boot Application – API /</a:t>
            </a:r>
            <a:r>
              <a:rPr lang="en-US" sz="2000" dirty="0" err="1"/>
              <a:t>chatstream</a:t>
            </a:r>
            <a:endParaRPr lang="en-US" sz="20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C23D23-66E6-A4B0-ADEC-5199F35A5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1382"/>
            <a:ext cx="12192000" cy="49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1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A4DAF-6A9E-DCB9-6B90-D4EDE40F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FA6506-DF3C-27C1-9EDA-B373A8B1A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D8B980-1E42-4BA6-2F5A-52B344E78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E52D75-7CAF-852B-DA08-F47C46CDF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3A9EC2-5711-02EC-CEA4-54D5E6F1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09775-3482-546D-FC5C-B484BB03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Key Achievements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53545E-371D-2651-873E-2ED4D3D7C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91998" cy="5282043"/>
          </a:xfrm>
        </p:spPr>
        <p:txBody>
          <a:bodyPr>
            <a:normAutofit/>
          </a:bodyPr>
          <a:lstStyle/>
          <a:p>
            <a:r>
              <a:rPr lang="en-US" sz="2000" dirty="0"/>
              <a:t>End-to-end RAG pipeline implemented and validated</a:t>
            </a:r>
          </a:p>
          <a:p>
            <a:r>
              <a:rPr lang="en-US" sz="2000" dirty="0"/>
              <a:t>Clear separation of concerns (ingestion, retrieval, generation)</a:t>
            </a:r>
          </a:p>
          <a:p>
            <a:r>
              <a:rPr lang="en-US" sz="2000" dirty="0"/>
              <a:t>Improved answer accuracy compared to vanilla LLM usage</a:t>
            </a:r>
          </a:p>
          <a:p>
            <a:r>
              <a:rPr lang="en-US" sz="2000" dirty="0"/>
              <a:t>Reduced hallucinations using retrieval grounding</a:t>
            </a:r>
          </a:p>
          <a:p>
            <a:r>
              <a:rPr lang="en-US" sz="2000" dirty="0"/>
              <a:t>Architecture is modular, scalable, and extensible</a:t>
            </a:r>
          </a:p>
          <a:p>
            <a:r>
              <a:rPr lang="en-US" sz="2000" dirty="0"/>
              <a:t>Supports future enhancements like multi-modal data and agents</a:t>
            </a:r>
          </a:p>
        </p:txBody>
      </p:sp>
    </p:spTree>
    <p:extLst>
      <p:ext uri="{BB962C8B-B14F-4D97-AF65-F5344CB8AC3E}">
        <p14:creationId xmlns:p14="http://schemas.microsoft.com/office/powerpoint/2010/main" val="4164478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B8C1E-AAED-E935-DFA9-7B513F7F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A7F8CD0-5D8E-942A-912F-AAF4C8D2A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39ED30-B6B5-4EB7-17F2-C1163518F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1D980E-EB24-A3CC-FD0F-AEA06523D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0D2B64-FF4A-36B8-F87B-5D30F0C01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88991-1A1B-9F9A-5320-6DB0AE10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Recap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43CBF1-53C7-20E3-7ABF-79D25BEBB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76388"/>
            <a:ext cx="12121823" cy="528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35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4531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CTS_OVERVIEW_ppt_template_16by9_new branding_graphic heavy_NO VIDEOS">
  <a:themeElements>
    <a:clrScheme name="Cubic Transportation Sytems">
      <a:dk1>
        <a:srgbClr val="595A5A"/>
      </a:dk1>
      <a:lt1>
        <a:srgbClr val="FFFFFF"/>
      </a:lt1>
      <a:dk2>
        <a:srgbClr val="00548B"/>
      </a:dk2>
      <a:lt2>
        <a:srgbClr val="FFFFFF"/>
      </a:lt2>
      <a:accent1>
        <a:srgbClr val="00548B"/>
      </a:accent1>
      <a:accent2>
        <a:srgbClr val="00ADBB"/>
      </a:accent2>
      <a:accent3>
        <a:srgbClr val="F7A800"/>
      </a:accent3>
      <a:accent4>
        <a:srgbClr val="BCBEC0"/>
      </a:accent4>
      <a:accent5>
        <a:srgbClr val="6D6E71"/>
      </a:accent5>
      <a:accent6>
        <a:srgbClr val="000000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accent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</Words>
  <Application>Microsoft Office PowerPoint</Application>
  <PresentationFormat>Widescreen</PresentationFormat>
  <Paragraphs>206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15_CTS_OVERVIEW_ppt_template_16by9_new branding_graphic heavy_NO VIDEOS</vt:lpstr>
      <vt:lpstr>PowerPoint Presentation</vt:lpstr>
      <vt:lpstr>Overview</vt:lpstr>
      <vt:lpstr>Purpose</vt:lpstr>
      <vt:lpstr>Problem Statement</vt:lpstr>
      <vt:lpstr>Solution</vt:lpstr>
      <vt:lpstr>RAG High-Level Architecture (PoC)</vt:lpstr>
      <vt:lpstr>RAG High-Level Architecture (PoC) Contd..</vt:lpstr>
      <vt:lpstr>Architectural Principles (PoC) Contd..</vt:lpstr>
      <vt:lpstr>Why This Architecture Is Strong</vt:lpstr>
      <vt:lpstr>Component and Layer Responsibilities</vt:lpstr>
      <vt:lpstr>Component and Layer Responsibilities (Contd..)</vt:lpstr>
      <vt:lpstr>Component and Layer Responsibilities (Contd..)</vt:lpstr>
      <vt:lpstr>Component &amp; Layer Responsibilities (Contd..)</vt:lpstr>
      <vt:lpstr>Replaceability &amp; Evolution</vt:lpstr>
      <vt:lpstr>Why This Architecture Is Enterprise‑Ready</vt:lpstr>
      <vt:lpstr>PoC – Software Stack</vt:lpstr>
      <vt:lpstr>PoC– FastAPI Running</vt:lpstr>
      <vt:lpstr>PoC – FastAPI Swagger</vt:lpstr>
      <vt:lpstr>PoC– Qdrant Running</vt:lpstr>
      <vt:lpstr>PoC – Cross Encoder Reranker</vt:lpstr>
      <vt:lpstr>PoC – Ollama Running</vt:lpstr>
      <vt:lpstr>PoC – Sync call</vt:lpstr>
      <vt:lpstr>PoC - Sync call Logs</vt:lpstr>
      <vt:lpstr>PoC – Async call</vt:lpstr>
      <vt:lpstr>PoC – Async call Logs</vt:lpstr>
      <vt:lpstr>Key Achievements</vt:lpstr>
      <vt:lpstr>Recap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GraphQL</dc:title>
  <dc:creator>Mothadaka, Ramachandra Rao (IN)</dc:creator>
  <cp:lastModifiedBy>Mothadaka, Ramachandra Rao (IN)</cp:lastModifiedBy>
  <cp:revision>1602</cp:revision>
  <dcterms:created xsi:type="dcterms:W3CDTF">2023-04-09T12:38:20Z</dcterms:created>
  <dcterms:modified xsi:type="dcterms:W3CDTF">2026-04-07T02:17:16Z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d08519-d6c6-43fb-b290-d45b6185117e_Enabled">
    <vt:lpwstr>true</vt:lpwstr>
  </property>
  <property fmtid="{D5CDD505-2E9C-101B-9397-08002B2CF9AE}" pid="3" name="MSIP_Label_3fd08519-d6c6-43fb-b290-d45b6185117e_SetDate">
    <vt:lpwstr>2023-06-02T13:49:13Z</vt:lpwstr>
  </property>
  <property fmtid="{D5CDD505-2E9C-101B-9397-08002B2CF9AE}" pid="4" name="MSIP_Label_3fd08519-d6c6-43fb-b290-d45b6185117e_Method">
    <vt:lpwstr>Privileged</vt:lpwstr>
  </property>
  <property fmtid="{D5CDD505-2E9C-101B-9397-08002B2CF9AE}" pid="5" name="MSIP_Label_3fd08519-d6c6-43fb-b290-d45b6185117e_Name">
    <vt:lpwstr>Internal Use</vt:lpwstr>
  </property>
  <property fmtid="{D5CDD505-2E9C-101B-9397-08002B2CF9AE}" pid="6" name="MSIP_Label_3fd08519-d6c6-43fb-b290-d45b6185117e_SiteId">
    <vt:lpwstr>10d6de58-a709-4821-a02c-4c46747e0059</vt:lpwstr>
  </property>
  <property fmtid="{D5CDD505-2E9C-101B-9397-08002B2CF9AE}" pid="7" name="MSIP_Label_3fd08519-d6c6-43fb-b290-d45b6185117e_ActionId">
    <vt:lpwstr>f4f4078d-3b8e-438c-af41-7d346b972510</vt:lpwstr>
  </property>
  <property fmtid="{D5CDD505-2E9C-101B-9397-08002B2CF9AE}" pid="8" name="MSIP_Label_3fd08519-d6c6-43fb-b290-d45b6185117e_ContentBits">
    <vt:lpwstr>2</vt:lpwstr>
  </property>
</Properties>
</file>